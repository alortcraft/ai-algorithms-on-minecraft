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4adcfa3c2c424b" /><Relationship Type="http://schemas.openxmlformats.org/officeDocument/2006/relationships/extended-properties" Target="/docProps/app.xml" Id="Re187b74992e34415" /><Relationship Type="http://schemas.openxmlformats.org/officeDocument/2006/relationships/officeDocument" Target="/ppt/presentation.xml" Id="R65e1b5408e5547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c64bc63a434fe1"/>
  </p:sldMasterIdLst>
  <p:notesMasterIdLst>
    <p:notesMasterId xmlns:r="http://schemas.openxmlformats.org/officeDocument/2006/relationships" r:id="R11daca5f0e44455a"/>
  </p:notesMasterIdLst>
  <p:sldIdLst>
    <p:sldId xmlns:r="http://schemas.openxmlformats.org/officeDocument/2006/relationships" id="256" r:id="R3395f78563924a27"/>
    <p:sldId xmlns:r="http://schemas.openxmlformats.org/officeDocument/2006/relationships" id="257" r:id="Ra2e34b6dde8f4302"/>
    <p:sldId xmlns:r="http://schemas.openxmlformats.org/officeDocument/2006/relationships" id="258" r:id="Rf7a357827e3d4bdd"/>
    <p:sldId xmlns:r="http://schemas.openxmlformats.org/officeDocument/2006/relationships" id="259" r:id="R600c982a72174177"/>
    <p:sldId xmlns:r="http://schemas.openxmlformats.org/officeDocument/2006/relationships" id="260" r:id="R34cb28e519c5449c"/>
    <p:sldId xmlns:r="http://schemas.openxmlformats.org/officeDocument/2006/relationships" id="261" r:id="R9741563924554a73"/>
    <p:sldId xmlns:r="http://schemas.openxmlformats.org/officeDocument/2006/relationships" id="262" r:id="Rdb846406bc344110"/>
    <p:sldId xmlns:r="http://schemas.openxmlformats.org/officeDocument/2006/relationships" id="263" r:id="R9c4ff687b5504320"/>
    <p:sldId xmlns:r="http://schemas.openxmlformats.org/officeDocument/2006/relationships" id="264" r:id="R36571beda6c54ec7"/>
    <p:sldId xmlns:r="http://schemas.openxmlformats.org/officeDocument/2006/relationships" id="265" r:id="Rd5853983da414670"/>
    <p:sldId xmlns:r="http://schemas.openxmlformats.org/officeDocument/2006/relationships" id="266" r:id="Rf5fbcf3d23aa49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531fb1d7884da8" /><Relationship Type="http://schemas.openxmlformats.org/officeDocument/2006/relationships/slideMaster" Target="/ppt/slideMasters/slideMaster1.xml" Id="R3cc64bc63a434fe1" /><Relationship Type="http://schemas.openxmlformats.org/officeDocument/2006/relationships/notesMaster" Target="/ppt/notesMasters/notesMaster1.xml" Id="R11daca5f0e44455a" /><Relationship Type="http://schemas.openxmlformats.org/officeDocument/2006/relationships/presProps" Target="/ppt/presProps.xml" Id="R89e1980d88dd4011" /><Relationship Type="http://schemas.openxmlformats.org/officeDocument/2006/relationships/tableStyles" Target="/ppt/tableStyles.xml" Id="Rc48db46bd1bd48c8" /><Relationship Type="http://schemas.openxmlformats.org/officeDocument/2006/relationships/slide" Target="/ppt/slides/slide1.xml" Id="R3395f78563924a27" /><Relationship Type="http://schemas.openxmlformats.org/officeDocument/2006/relationships/slide" Target="/ppt/slides/slide2.xml" Id="Ra2e34b6dde8f4302" /><Relationship Type="http://schemas.openxmlformats.org/officeDocument/2006/relationships/slide" Target="/ppt/slides/slide3.xml" Id="Rf7a357827e3d4bdd" /><Relationship Type="http://schemas.openxmlformats.org/officeDocument/2006/relationships/slide" Target="/ppt/slides/slide4.xml" Id="R600c982a72174177" /><Relationship Type="http://schemas.openxmlformats.org/officeDocument/2006/relationships/slide" Target="/ppt/slides/slide5.xml" Id="R34cb28e519c5449c" /><Relationship Type="http://schemas.openxmlformats.org/officeDocument/2006/relationships/slide" Target="/ppt/slides/slide6.xml" Id="R9741563924554a73" /><Relationship Type="http://schemas.openxmlformats.org/officeDocument/2006/relationships/slide" Target="/ppt/slides/slide7.xml" Id="Rdb846406bc344110" /><Relationship Type="http://schemas.openxmlformats.org/officeDocument/2006/relationships/slide" Target="/ppt/slides/slide8.xml" Id="R9c4ff687b5504320" /><Relationship Type="http://schemas.openxmlformats.org/officeDocument/2006/relationships/slide" Target="/ppt/slides/slide9.xml" Id="R36571beda6c54ec7" /><Relationship Type="http://schemas.openxmlformats.org/officeDocument/2006/relationships/slide" Target="/ppt/slides/slide10.xml" Id="Rd5853983da414670" /><Relationship Type="http://schemas.openxmlformats.org/officeDocument/2006/relationships/slide" Target="/ppt/slides/slide11.xml" Id="Rf5fbcf3d23aa49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021c3a70de4b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f15198b8724811" /><Relationship Type="http://schemas.openxmlformats.org/officeDocument/2006/relationships/notesMaster" Target="/ppt/notesMasters/notesMaster1.xml" Id="R8bde3d838be649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c71d46c67d4a73" /><Relationship Type="http://schemas.openxmlformats.org/officeDocument/2006/relationships/notesMaster" Target="/ppt/notesMasters/notesMaster1.xml" Id="R91478f293d7442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a4f9016d734a43" /><Relationship Type="http://schemas.openxmlformats.org/officeDocument/2006/relationships/notesMaster" Target="/ppt/notesMasters/notesMaster1.xml" Id="R8394daf0cb3448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27c3ccd22d4d09" /><Relationship Type="http://schemas.openxmlformats.org/officeDocument/2006/relationships/notesMaster" Target="/ppt/notesMasters/notesMaster1.xml" Id="R310147d3b0514b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d4af133be940b5" /><Relationship Type="http://schemas.openxmlformats.org/officeDocument/2006/relationships/notesMaster" Target="/ppt/notesMasters/notesMaster1.xml" Id="Rc6e9dd49263347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377e600e9c468e" /><Relationship Type="http://schemas.openxmlformats.org/officeDocument/2006/relationships/notesMaster" Target="/ppt/notesMasters/notesMaster1.xml" Id="Rbc2e7e6d61ff47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65023965f94f14" /><Relationship Type="http://schemas.openxmlformats.org/officeDocument/2006/relationships/notesMaster" Target="/ppt/notesMasters/notesMaster1.xml" Id="R6e738662913c48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0b3ab779d546d2" /><Relationship Type="http://schemas.openxmlformats.org/officeDocument/2006/relationships/notesMaster" Target="/ppt/notesMasters/notesMaster1.xml" Id="R5294cdc4fcda4b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f26a96e32740c7" /><Relationship Type="http://schemas.openxmlformats.org/officeDocument/2006/relationships/notesMaster" Target="/ppt/notesMasters/notesMaster1.xml" Id="Rece678e277d744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7c08f99b594953" /><Relationship Type="http://schemas.openxmlformats.org/officeDocument/2006/relationships/notesMaster" Target="/ppt/notesMasters/notesMaster1.xml" Id="R34f23014fcf644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d0b449ea934d84" /><Relationship Type="http://schemas.openxmlformats.org/officeDocument/2006/relationships/notesMaster" Target="/ppt/notesMasters/notesMaster1.xml" Id="Rd6dc5c364f7246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Responsável sugerido: Integrante 1</a:t>
            </a:r>
          </a:p>
          <a:p xmlns:a="http://schemas.openxmlformats.org/drawingml/2006/main">
            <a:r>
              <a:t>Tempo: 0min30s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Abrir com a pergunta: como ensinar um bot a decidir o momento certo de andar, correr ou pular?</a:t>
            </a:r>
          </a:p>
          <a:p xmlns:a="http://schemas.openxmlformats.org/drawingml/2006/main">
            <a:r>
              <a:t>Deixar claro que o cenário é um percurso de parkour dentro do mundo do labirinto; não apresentaremos algoritmos de busca do labirinto.</a:t>
            </a:r>
          </a:p>
          <a:p xmlns:a="http://schemas.openxmlformats.org/drawingml/2006/main">
            <a:r>
              <a:t>Antecipar a ideia central: o bot aprende por tentativa, recompensa e atualização da tabela Q.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config/cenarios/labirinto_parkours.json</a:t>
            </a:r>
          </a:p>
          <a:p xmlns:a="http://schemas.openxmlformats.org/drawingml/2006/main">
            <a:r>
              <a:t>- Imagem: OpenAI ImageGen; prompt registrado em work/presentation-build/source-notes.txt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Responsável sugerido: Integrante 1</a:t>
            </a:r>
          </a:p>
          <a:p xmlns:a="http://schemas.openxmlformats.org/drawingml/2006/main">
            <a:r>
              <a:t>Tempo: 1min30s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Definir o problema como controle sequencial: cada decisão muda a próxima situação física.</a:t>
            </a:r>
          </a:p>
          <a:p xmlns:a="http://schemas.openxmlformats.org/drawingml/2006/main">
            <a:r>
              <a:t>Explicar que escrever regras para todos os vãos e alturas ficaria frágil e específico demais.</a:t>
            </a:r>
          </a:p>
          <a:p xmlns:a="http://schemas.openxmlformats.org/drawingml/2006/main">
            <a:r>
              <a:t>Apresentar rapidamente a divisão de tempo. O objetivo é chegar aos resultados antes dos 13 minutos e concluir com calma.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docs/GUIA_Q_LEARNING.md</a:t>
            </a:r>
          </a:p>
          <a:p xmlns:a="http://schemas.openxmlformats.org/drawingml/2006/main">
            <a:r>
              <a:t>- docs/COMO_O_PROJETO_FUNCIONA.md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Responsável sugerido: Integrante 1</a:t>
            </a:r>
          </a:p>
          <a:p xmlns:a="http://schemas.openxmlformats.org/drawingml/2006/main">
            <a:r>
              <a:t>Tempo: 1min00s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Mostrar que o labirinto é apenas o mundo onde as três pistas foram construídas.</a:t>
            </a:r>
          </a:p>
          <a:p xmlns:a="http://schemas.openxmlformats.org/drawingml/2006/main">
            <a:r>
              <a:t>A progressão permite começar simples e só depois introduzir saltos longos, variação de altura e dano.</a:t>
            </a:r>
          </a:p>
          <a:p xmlns:a="http://schemas.openxmlformats.org/drawingml/2006/main">
            <a:r>
              <a:t>Fazer a transição: para aprender nesses três níveis, o agente precisa transformar o mundo contínuo em um estado discreto.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config/cenarios/labirinto_parkours.json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testes/teste_q_learning.py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Responsável sugerido: Integrante 2</a:t>
            </a:r>
          </a:p>
          <a:p xmlns:a="http://schemas.openxmlformats.org/drawingml/2006/main">
            <a:r>
              <a:t>Tempo: 1min45s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Explicar que Q-Learning tabular exige um índice inteiro de estado.</a:t>
            </a:r>
          </a:p>
          <a:p xmlns:a="http://schemas.openxmlformats.org/drawingml/2006/main">
            <a:r>
              <a:t>O modo piso combina quatro bits de apoio, seis classes de altura, posição no bloco, fase vertical e faixa de velocidade: 16 × 6 × 4 × 3 × 3 = 3.456.</a:t>
            </a:r>
          </a:p>
          <a:p xmlns:a="http://schemas.openxmlformats.org/drawingml/2006/main">
            <a:r>
              <a:t>As quatro ações são restritas ao corredor reto. A recompensa usa progresso líquido para evitar ganhar pontos oscilando para frente e para trás.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src/parkour/estado.py</a:t>
            </a:r>
          </a:p>
          <a:p xmlns:a="http://schemas.openxmlformats.org/drawingml/2006/main">
            <a:r>
              <a:t>- src/parkour/acoes.py</a:t>
            </a:r>
          </a:p>
          <a:p xmlns:a="http://schemas.openxmlformats.org/drawingml/2006/main">
            <a:r>
              <a:t>- src/parkour/recompensa.py</a:t>
            </a:r>
          </a:p>
          <a:p xmlns:a="http://schemas.openxmlformats.org/drawingml/2006/main">
            <a:r>
              <a:t>- config/parkour.json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Responsável sugerido: Integrante 2</a:t>
            </a:r>
          </a:p>
          <a:p xmlns:a="http://schemas.openxmlformats.org/drawingml/2006/main">
            <a:r>
              <a:t>Tempo: 1min30s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Ler a equação em linguagem simples: comparar o valor atual com a recompensa imediata mais o melhor futuro conhecido.</a:t>
            </a:r>
          </a:p>
          <a:p xmlns:a="http://schemas.openxmlformats.org/drawingml/2006/main">
            <a:r>
              <a:t>Destacar que α controla quanto a experiência nova corrige a tabela e γ valoriza consequências futuras.</a:t>
            </a:r>
          </a:p>
          <a:p xmlns:a="http://schemas.openxmlformats.org/drawingml/2006/main">
            <a:r>
              <a:t>Explicar epsilon-greedy: exploração aleatória não é outro agente; faz parte do próprio Q-Learning.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src/parkour/q_learning.py</a:t>
            </a:r>
          </a:p>
          <a:p xmlns:a="http://schemas.openxmlformats.org/drawingml/2006/main">
            <a:r>
              <a:t>- config/parkour.json</a:t>
            </a:r>
          </a:p>
          <a:p xmlns:a="http://schemas.openxmlformats.org/drawingml/2006/main">
            <a:r>
              <a:t>- docs/GUIA_Q_LEARNING.md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Responsável sugerido: Integrante 2</a:t>
            </a:r>
          </a:p>
          <a:p xmlns:a="http://schemas.openxmlformats.org/drawingml/2006/main">
            <a:r>
              <a:t>Tempo: 1min30s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Percorrer o fluxo da esquerda para a direita, sempre ligando o conceito ao arquivo correspondente.</a:t>
            </a:r>
          </a:p>
          <a:p xmlns:a="http://schemas.openxmlformats.org/drawingml/2006/main">
            <a:r>
              <a:t>A ação dura quatro ticks, ou cerca de 200 ms, e a meta é verificada a cada tick para não perder o instante do pouso.</a:t>
            </a:r>
          </a:p>
          <a:p xmlns:a="http://schemas.openxmlformats.org/drawingml/2006/main">
            <a:r>
              <a:t>Ao final do episódio, a tabela e o histórico podem ser salvos e o epsilon diminui.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docs/COMO_O_PROJETO_FUNCIONA.md</a:t>
            </a:r>
          </a:p>
          <a:p xmlns:a="http://schemas.openxmlformats.org/drawingml/2006/main">
            <a:r>
              <a:t>- src/parkour/ambiente_mc.py</a:t>
            </a:r>
          </a:p>
          <a:p xmlns:a="http://schemas.openxmlformats.org/drawingml/2006/main">
            <a:r>
              <a:t>- src/parkour/treinar.py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Responsável sugerido: Integrante 3</a:t>
            </a:r>
          </a:p>
          <a:p xmlns:a="http://schemas.openxmlformats.org/drawingml/2006/main">
            <a:r>
              <a:t>Tempo: 1min30s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Mostrar que a equação cabe em poucas linhas; a maior dificuldade não é a fórmula, mas definir boas observações e recompensas.</a:t>
            </a:r>
          </a:p>
          <a:p xmlns:a="http://schemas.openxmlformats.org/drawingml/2006/main">
            <a:r>
              <a:t>O desacoplamento permite testar Bellman, persistência e recompensa sem abrir o Minecraft.</a:t>
            </a:r>
          </a:p>
          <a:p xmlns:a="http://schemas.openxmlformats.org/drawingml/2006/main">
            <a:r>
              <a:t>A física, porém, não é simulada: quando o bot treina, posição e velocidade vêm do jogo aberto.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src/parkour/q_learning.py</a:t>
            </a:r>
          </a:p>
          <a:p xmlns:a="http://schemas.openxmlformats.org/drawingml/2006/main">
            <a:r>
              <a:t>- src/parkour/ambiente_mc.py</a:t>
            </a:r>
          </a:p>
          <a:p xmlns:a="http://schemas.openxmlformats.org/drawingml/2006/main">
            <a:r>
              <a:t>- src/parkour/estado.py</a:t>
            </a:r>
          </a:p>
          <a:p xmlns:a="http://schemas.openxmlformats.org/drawingml/2006/main">
            <a:r>
              <a:t>- src/parkour/treinar.py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Responsável sugerido: Integrante 3</a:t>
            </a:r>
          </a:p>
          <a:p xmlns:a="http://schemas.openxmlformats.org/drawingml/2006/main">
            <a:r>
              <a:t>Tempo: 1min15s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Diferenciar paralelismo de múltiplos modelos: todos atualizam a mesma tabela.</a:t>
            </a:r>
          </a:p>
          <a:p xmlns:a="http://schemas.openxmlformats.org/drawingml/2006/main">
            <a:r>
              <a:t>A trava protege escolhas, atualizações e persistência; o teste concorrente confirmou 4.000 visitas sem perda.</a:t>
            </a:r>
          </a:p>
          <a:p xmlns:a="http://schemas.openxmlformats.org/drawingml/2006/main">
            <a:r>
              <a:t>No jogo, a equipe sem colisão evita que os bots se empurrem, mas eles continuam colidindo com blocos do percurso.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src/parkour/q_learning.py</a:t>
            </a:r>
          </a:p>
          <a:p xmlns:a="http://schemas.openxmlformats.org/drawingml/2006/main">
            <a:r>
              <a:t>- src/parkour/main.py</a:t>
            </a:r>
          </a:p>
          <a:p xmlns:a="http://schemas.openxmlformats.org/drawingml/2006/main">
            <a:r>
              <a:t>- testes/teste_q_learning.py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Responsável sugerido: Integrante 4</a:t>
            </a:r>
          </a:p>
          <a:p xmlns:a="http://schemas.openxmlformats.org/drawingml/2006/main">
            <a:r>
              <a:t>Tempo: 1min30s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Começar pelo limite: o repositório não contém CSV ou modelo treinado para afirmar taxa de chegada.</a:t>
            </a:r>
          </a:p>
          <a:p xmlns:a="http://schemas.openxmlformats.org/drawingml/2006/main">
            <a:r>
              <a:t>Apresentar o que foi realmente verificado nesta entrega: 30 de 30 checagens locais passaram.</a:t>
            </a:r>
          </a:p>
          <a:p xmlns:a="http://schemas.openxmlformats.org/drawingml/2006/main">
            <a:r>
              <a:t>Citar exemplos: Bellman, meta no tick exato do pouso, três pistas solucionáveis, concorrência e arquivo compartilhado válido.</a:t>
            </a:r>
          </a:p>
          <a:p xmlns:a="http://schemas.openxmlformats.org/drawingml/2006/main">
            <a:r>
              <a:t>Concluir que o sistema está pronto para a etapa experimental conectada ao servidor.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Execução local em 2026-08-16: python -m testes — 30/30 passaram</a:t>
            </a:r>
          </a:p>
          <a:p xmlns:a="http://schemas.openxmlformats.org/drawingml/2006/main">
            <a:r>
              <a:t>- testes/teste_q_learning.py</a:t>
            </a:r>
          </a:p>
          <a:p xmlns:a="http://schemas.openxmlformats.org/drawingml/2006/main">
            <a:r>
              <a:t>- src/parkour/estado.py</a:t>
            </a:r>
          </a:p>
          <a:p xmlns:a="http://schemas.openxmlformats.org/drawingml/2006/main">
            <a:r>
              <a:t>- config/cenarios/labirinto_parkours.json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Responsável sugerido: Integrante 4</a:t>
            </a:r>
          </a:p>
          <a:p xmlns:a="http://schemas.openxmlformats.org/drawingml/2006/main">
            <a:r>
              <a:t>Tempo: 1min00s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Não tratar a ausência de métricas de treino como falha escondida; ela define claramente a próxima etapa.</a:t>
            </a:r>
          </a:p>
          <a:p xmlns:a="http://schemas.openxmlformats.org/drawingml/2006/main">
            <a:r>
              <a:t>O primeiro experimento sugerido é treinar frente_1, executar várias avaliações com epsilon zero e registrar taxa de chegada.</a:t>
            </a:r>
          </a:p>
          <a:p xmlns:a="http://schemas.openxmlformats.org/drawingml/2006/main">
            <a:r>
              <a:t>Blocos dinâmicos exigirão observação ao vivo e reset do cenário, especialmente em pistas mais complexas.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docs/PARTES_PARA_IMPLEMENTAR.md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src/parkour/treinar.py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Responsável sugerido: Integrante 4</a:t>
            </a:r>
          </a:p>
          <a:p xmlns:a="http://schemas.openxmlformats.org/drawingml/2006/main">
            <a:r>
              <a:t>Tempo: 0min45s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Retomar a pergunta inicial e responder: o bot aprende porque cada ação real vira uma atualização de valor.</a:t>
            </a:r>
          </a:p>
          <a:p xmlns:a="http://schemas.openxmlformats.org/drawingml/2006/main">
            <a:r>
              <a:t>Reforçar a mensagem de honestidade experimental: a arquitetura foi validada; a política ainda precisa ser treinada e medida no servidor.</a:t>
            </a:r>
          </a:p>
          <a:p xmlns:a="http://schemas.openxmlformats.org/drawingml/2006/main">
            <a:r>
              <a:t>Encerrar abrindo para perguntas sobre estado, recompensa, paralelismo ou plano de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Síntese de README.md e dos módulos src/parkour/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cad5bc0a6346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fecfff0f014d31" /><Relationship Type="http://schemas.openxmlformats.org/officeDocument/2006/relationships/slideLayout" Target="/ppt/slideLayouts/slideLayout1.xml" Id="R201162913c8043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1162913c8043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291a03c974115" /><Relationship Type="http://schemas.openxmlformats.org/officeDocument/2006/relationships/image" Target="/ppt/media/image.png" Id="R8706f41fa0854bc5" /><Relationship Type="http://schemas.openxmlformats.org/officeDocument/2006/relationships/notesSlide" Target="/ppt/notesSlides/notesSlide1.xml" Id="R58256f35e5a348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0537bf4a84ae4" /><Relationship Type="http://schemas.openxmlformats.org/officeDocument/2006/relationships/notesSlide" Target="/ppt/notesSlides/notesSlide2.xml" Id="Re456c7d64ebe40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be17131d94376" /><Relationship Type="http://schemas.openxmlformats.org/officeDocument/2006/relationships/notesSlide" Target="/ppt/notesSlides/notesSlide3.xml" Id="R3b06c0a28b9342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c2404c9f24691" /><Relationship Type="http://schemas.openxmlformats.org/officeDocument/2006/relationships/notesSlide" Target="/ppt/notesSlides/notesSlide4.xml" Id="R9df6b87343f541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7e65158e24c1b" /><Relationship Type="http://schemas.openxmlformats.org/officeDocument/2006/relationships/notesSlide" Target="/ppt/notesSlides/notesSlide5.xml" Id="R8bf69ada16304c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52ef67afd4724" /><Relationship Type="http://schemas.openxmlformats.org/officeDocument/2006/relationships/notesSlide" Target="/ppt/notesSlides/notesSlide6.xml" Id="R165f061e200b4e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ad0c4bd8d4857" /><Relationship Type="http://schemas.openxmlformats.org/officeDocument/2006/relationships/notesSlide" Target="/ppt/notesSlides/notesSlide7.xml" Id="R798a693b9ab645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c695b4be64225" /><Relationship Type="http://schemas.openxmlformats.org/officeDocument/2006/relationships/notesSlide" Target="/ppt/notesSlides/notesSlide8.xml" Id="R9d467f45c68c4c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56e75a27f497f" /><Relationship Type="http://schemas.openxmlformats.org/officeDocument/2006/relationships/notesSlide" Target="/ppt/notesSlides/notesSlide9.xml" Id="R43dfd8fe18d04c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d534af1bf42e2" /><Relationship Type="http://schemas.openxmlformats.org/officeDocument/2006/relationships/notesSlide" Target="/ppt/notesSlides/notesSlide10.xml" Id="R699a6e9a1f3e4e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7a764b10446ab" /><Relationship Type="http://schemas.openxmlformats.org/officeDocument/2006/relationships/notesSlide" Target="/ppt/notesSlides/notesSlide11.xml" Id="R09d86471a8a241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E2A615BD-A9A2-43CC-B7EC-44E36471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INTELIGÊNCIA ARTIFICIAL NO MINECRAFT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1084386-5AB3-4DF4-97BC-FF04F11F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86000"/>
              </a:lnSpc>
              <a:buNone/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Aprendendo</a:t>
            </a:r>
          </a:p>
          <a:p xmlns:a="http://schemas.openxmlformats.org/drawingml/2006/main">
            <a:pPr>
              <a:lnSpc>
                <a:spcPct val="86000"/>
              </a:lnSpc>
              <a:buNone/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parkour com</a:t>
            </a:r>
          </a:p>
          <a:p xmlns:a="http://schemas.openxmlformats.org/drawingml/2006/main">
            <a:pPr>
              <a:lnSpc>
                <a:spcPct val="86000"/>
              </a:lnSpc>
              <a:buNone/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Q-Learning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51CC128-64DC-4A4C-8CDE-C081168E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5B6472"/>
                </a:solidFill>
                <a:latin typeface="Arial"/>
                <a:ea typeface="Arial"/>
                <a:cs typeface="Arial"/>
              </a:rPr>
              <a:t>Um agente tabular que aprende com a física real do jogo — sem regra pronta para cada salto.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B19E1582-7A76-4F70-8EBE-64556AA2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scope">
            <a:extLst xmlns:a="http://schemas.openxmlformats.org/drawingml/2006/main">
              <a:ext uri="{FF2B5EF4-FFF2-40B4-BE49-F238E27FC236}">
                <a16:creationId xmlns:a16="http://schemas.microsoft.com/office/drawing/2014/main" id="{0BDDE2AF-F59B-4CA0-82EF-629B4273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472"/>
                </a:solidFill>
                <a:latin typeface="Arial"/>
                <a:ea typeface="Arial"/>
                <a:cs typeface="Arial"/>
              </a:rPr>
              <a:t>Parkour construído dentro do mapa world_labirinto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06f41fa0854bc5"/>
          <a:srcRect xmlns:a="http://schemas.openxmlformats.org/drawingml/2006/main" l="510" t="0" r="5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>
              <a:gd name="adj" fmla="val 3093"/>
            </a:avLst>
          </a:prstGeom>
        </p:spPr>
      </p:pic>
    </p:spTree>
    <p:extLst>
      <p:ext uri="{BB962C8B-B14F-4D97-AF65-F5344CB8AC3E}">
        <p14:creationId xmlns:p14="http://schemas.microsoft.com/office/powerpoint/2010/main" val="9356257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2">
            <a:extLst xmlns:a="http://schemas.openxmlformats.org/drawingml/2006/main">
              <a:ext uri="{FF2B5EF4-FFF2-40B4-BE49-F238E27FC236}">
                <a16:creationId xmlns:a16="http://schemas.microsoft.com/office/drawing/2014/main" id="{08F29B5E-E1F4-4F04-A44C-7DD9976F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PROBLEMA ESCOLHIDO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2ABC445F-B877-46A4-BD7E-C969450D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 salto certo exige aprender com a física real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1E35DD37-3E69-43CA-85A7-C61E8EA8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problem-claim">
            <a:extLst xmlns:a="http://schemas.openxmlformats.org/drawingml/2006/main">
              <a:ext uri="{FF2B5EF4-FFF2-40B4-BE49-F238E27FC236}">
                <a16:creationId xmlns:a16="http://schemas.microsoft.com/office/drawing/2014/main" id="{591E80AF-8CD3-4939-AE76-E43377F4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 agente não recebe a regra</a:t>
            </a:r>
          </a:p>
          <a:p xmlns:a="http://schemas.openxmlformats.org/drawingml/2006/main">
            <a:pPr>
              <a:lnSpc>
                <a:spcPct val="92000"/>
              </a:lnSpc>
              <a:buNone/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“se há buraco, pule”.</a:t>
            </a:r>
          </a:p>
        </p:txBody>
      </p:sp>
      <p:sp>
        <p:nvSpPr>
          <p:cNvPr id="5" name="problem-bullets">
            <a:extLst xmlns:a="http://schemas.openxmlformats.org/drawingml/2006/main">
              <a:ext uri="{FF2B5EF4-FFF2-40B4-BE49-F238E27FC236}">
                <a16:creationId xmlns:a16="http://schemas.microsoft.com/office/drawing/2014/main" id="{A0BACAC7-95F9-42B4-8292-2F2A7E70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6600"/>
            <a:ext cx="5048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observa posição, velocidade e apoios à frente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escolhe um controle por tentativa e experiência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aprende com chegada, avanço, queda e travamento</a:t>
            </a:r>
          </a:p>
        </p:txBody>
      </p:sp>
      <p:sp>
        <p:nvSpPr>
          <p:cNvPr id="6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CA9D895A-A1B7-44AA-A21E-EB551C78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09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Roteiro em 15 minutos</a:t>
            </a:r>
          </a:p>
        </p:txBody>
      </p:sp>
      <p:sp>
        <p:nvSpPr>
          <p:cNvPr id="7" name="agenda-rule-0">
            <a:extLst xmlns:a="http://schemas.openxmlformats.org/drawingml/2006/main">
              <a:ext uri="{FF2B5EF4-FFF2-40B4-BE49-F238E27FC236}">
                <a16:creationId xmlns:a16="http://schemas.microsoft.com/office/drawing/2014/main" id="{777531D6-B8A9-4967-873E-8A59FE20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146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genda-num-0">
            <a:extLst xmlns:a="http://schemas.openxmlformats.org/drawingml/2006/main">
              <a:ext uri="{FF2B5EF4-FFF2-40B4-BE49-F238E27FC236}">
                <a16:creationId xmlns:a16="http://schemas.microsoft.com/office/drawing/2014/main" id="{530655FE-13CC-435A-B7F2-49226708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agenda-label-0">
            <a:extLst xmlns:a="http://schemas.openxmlformats.org/drawingml/2006/main">
              <a:ext uri="{FF2B5EF4-FFF2-40B4-BE49-F238E27FC236}">
                <a16:creationId xmlns:a16="http://schemas.microsoft.com/office/drawing/2014/main" id="{FACF363F-7722-4BD3-8ED8-6C7918A0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003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Problema</a:t>
            </a:r>
          </a:p>
        </p:txBody>
      </p:sp>
      <p:sp>
        <p:nvSpPr>
          <p:cNvPr id="10" name="agenda-time-0">
            <a:extLst xmlns:a="http://schemas.openxmlformats.org/drawingml/2006/main">
              <a:ext uri="{FF2B5EF4-FFF2-40B4-BE49-F238E27FC236}">
                <a16:creationId xmlns:a16="http://schemas.microsoft.com/office/drawing/2014/main" id="{1C55AA91-9090-4C5D-8A98-371D4A88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003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472"/>
                </a:solidFill>
                <a:latin typeface="Arial"/>
                <a:ea typeface="Arial"/>
                <a:cs typeface="Arial"/>
              </a:rPr>
              <a:t>3 min</a:t>
            </a:r>
          </a:p>
        </p:txBody>
      </p:sp>
      <p:sp>
        <p:nvSpPr>
          <p:cNvPr id="11" name="agenda-rule-1">
            <a:extLst xmlns:a="http://schemas.openxmlformats.org/drawingml/2006/main">
              <a:ext uri="{FF2B5EF4-FFF2-40B4-BE49-F238E27FC236}">
                <a16:creationId xmlns:a16="http://schemas.microsoft.com/office/drawing/2014/main" id="{3375C241-2D46-4091-ACF5-E280215B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5760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genda-num-1">
            <a:extLst xmlns:a="http://schemas.openxmlformats.org/drawingml/2006/main">
              <a:ext uri="{FF2B5EF4-FFF2-40B4-BE49-F238E27FC236}">
                <a16:creationId xmlns:a16="http://schemas.microsoft.com/office/drawing/2014/main" id="{F5D35BBD-0BA2-422A-8AFE-E986238E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432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agenda-label-1">
            <a:extLst xmlns:a="http://schemas.openxmlformats.org/drawingml/2006/main">
              <a:ext uri="{FF2B5EF4-FFF2-40B4-BE49-F238E27FC236}">
                <a16:creationId xmlns:a16="http://schemas.microsoft.com/office/drawing/2014/main" id="{0F2D9C30-1353-4851-B264-0383C2E2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432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Modelagem</a:t>
            </a:r>
          </a:p>
        </p:txBody>
      </p:sp>
      <p:sp>
        <p:nvSpPr>
          <p:cNvPr id="14" name="agenda-time-1">
            <a:extLst xmlns:a="http://schemas.openxmlformats.org/drawingml/2006/main">
              <a:ext uri="{FF2B5EF4-FFF2-40B4-BE49-F238E27FC236}">
                <a16:creationId xmlns:a16="http://schemas.microsoft.com/office/drawing/2014/main" id="{512AC9F5-2A5A-4BF5-9F48-AC7FF2AE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432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472"/>
                </a:solidFill>
                <a:latin typeface="Arial"/>
                <a:ea typeface="Arial"/>
                <a:cs typeface="Arial"/>
              </a:rPr>
              <a:t>4 min</a:t>
            </a:r>
          </a:p>
        </p:txBody>
      </p:sp>
      <p:sp>
        <p:nvSpPr>
          <p:cNvPr id="15" name="agenda-rule-2">
            <a:extLst xmlns:a="http://schemas.openxmlformats.org/drawingml/2006/main">
              <a:ext uri="{FF2B5EF4-FFF2-40B4-BE49-F238E27FC236}">
                <a16:creationId xmlns:a16="http://schemas.microsoft.com/office/drawing/2014/main" id="{33BCA2E0-8EA8-417B-8BE1-D50C8642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05A858CC-6B1B-4BC6-9CEA-9AE3C1A3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agenda-label-2">
            <a:extLst xmlns:a="http://schemas.openxmlformats.org/drawingml/2006/main">
              <a:ext uri="{FF2B5EF4-FFF2-40B4-BE49-F238E27FC236}">
                <a16:creationId xmlns:a16="http://schemas.microsoft.com/office/drawing/2014/main" id="{9AD61DA4-2AB0-44FA-9B11-A151C02C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862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Implementação</a:t>
            </a:r>
          </a:p>
        </p:txBody>
      </p:sp>
      <p:sp>
        <p:nvSpPr>
          <p:cNvPr id="18" name="agenda-time-2">
            <a:extLst xmlns:a="http://schemas.openxmlformats.org/drawingml/2006/main">
              <a:ext uri="{FF2B5EF4-FFF2-40B4-BE49-F238E27FC236}">
                <a16:creationId xmlns:a16="http://schemas.microsoft.com/office/drawing/2014/main" id="{99D5A6E9-D5C8-4F24-9B68-F2CC40D1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862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472"/>
                </a:solidFill>
                <a:latin typeface="Arial"/>
                <a:ea typeface="Arial"/>
                <a:cs typeface="Arial"/>
              </a:rPr>
              <a:t>4 min</a:t>
            </a:r>
          </a:p>
        </p:txBody>
      </p:sp>
      <p:sp>
        <p:nvSpPr>
          <p:cNvPr id="19" name="agenda-rule-3">
            <a:extLst xmlns:a="http://schemas.openxmlformats.org/drawingml/2006/main">
              <a:ext uri="{FF2B5EF4-FFF2-40B4-BE49-F238E27FC236}">
                <a16:creationId xmlns:a16="http://schemas.microsoft.com/office/drawing/2014/main" id="{DBDCB8BE-A149-47D3-BE03-C48172FF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4350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genda-num-3">
            <a:extLst xmlns:a="http://schemas.openxmlformats.org/drawingml/2006/main">
              <a:ext uri="{FF2B5EF4-FFF2-40B4-BE49-F238E27FC236}">
                <a16:creationId xmlns:a16="http://schemas.microsoft.com/office/drawing/2014/main" id="{67014B72-4681-4DE2-81A5-D6935536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29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agenda-label-3">
            <a:extLst xmlns:a="http://schemas.openxmlformats.org/drawingml/2006/main">
              <a:ext uri="{FF2B5EF4-FFF2-40B4-BE49-F238E27FC236}">
                <a16:creationId xmlns:a16="http://schemas.microsoft.com/office/drawing/2014/main" id="{DB1AF269-AAA0-4A75-9BCB-72B47111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291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Resultados + conclusão</a:t>
            </a:r>
          </a:p>
        </p:txBody>
      </p:sp>
      <p:sp>
        <p:nvSpPr>
          <p:cNvPr id="22" name="agenda-time-3">
            <a:extLst xmlns:a="http://schemas.openxmlformats.org/drawingml/2006/main">
              <a:ext uri="{FF2B5EF4-FFF2-40B4-BE49-F238E27FC236}">
                <a16:creationId xmlns:a16="http://schemas.microsoft.com/office/drawing/2014/main" id="{0BBB2291-426E-47FA-A764-86CF4F26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6291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472"/>
                </a:solidFill>
                <a:latin typeface="Arial"/>
                <a:ea typeface="Arial"/>
                <a:cs typeface="Arial"/>
              </a:rPr>
              <a:t>4 min</a:t>
            </a:r>
          </a:p>
        </p:txBody>
      </p:sp>
    </p:spTree>
    <p:extLst>
      <p:ext uri="{BB962C8B-B14F-4D97-AF65-F5344CB8AC3E}">
        <p14:creationId xmlns:p14="http://schemas.microsoft.com/office/powerpoint/2010/main" val="10926545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3">
            <a:extLst xmlns:a="http://schemas.openxmlformats.org/drawingml/2006/main">
              <a:ext uri="{FF2B5EF4-FFF2-40B4-BE49-F238E27FC236}">
                <a16:creationId xmlns:a16="http://schemas.microsoft.com/office/drawing/2014/main" id="{A0E2E16D-FD43-4824-B680-0B51964F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PROBLEMA ESCOLHIDO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C0BE1A69-0918-4219-983F-475F1AE1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Três pistas aumentam a dificuldade em etapas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F589D039-3CAB-4EC2-AEB3-AA48C026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tracks-intro">
            <a:extLst xmlns:a="http://schemas.openxmlformats.org/drawingml/2006/main">
              <a:ext uri="{FF2B5EF4-FFF2-40B4-BE49-F238E27FC236}">
                <a16:creationId xmlns:a16="http://schemas.microsoft.com/office/drawing/2014/main" id="{4A55B4BD-25E1-4525-AE9F-F52C87BF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B6472"/>
                </a:solidFill>
                <a:latin typeface="Arial"/>
                <a:ea typeface="Arial"/>
                <a:cs typeface="Arial"/>
              </a:rPr>
              <a:t>Todas avançam 53 blocos na direção −X e terminam na mesma plataforma.</a:t>
            </a:r>
          </a:p>
        </p:txBody>
      </p:sp>
      <p:sp>
        <p:nvSpPr>
          <p:cNvPr id="5" name="track-line">
            <a:extLst xmlns:a="http://schemas.openxmlformats.org/drawingml/2006/main">
              <a:ext uri="{FF2B5EF4-FFF2-40B4-BE49-F238E27FC236}">
                <a16:creationId xmlns:a16="http://schemas.microsoft.com/office/drawing/2014/main" id="{B9141747-E86C-4FE1-B08F-B69F07F5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995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rack-dot-0">
            <a:extLst xmlns:a="http://schemas.openxmlformats.org/drawingml/2006/main">
              <a:ext uri="{FF2B5EF4-FFF2-40B4-BE49-F238E27FC236}">
                <a16:creationId xmlns:a16="http://schemas.microsoft.com/office/drawing/2014/main" id="{24E6D67C-5632-4B75-B618-AA5B2B95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18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rack-num-0">
            <a:extLst xmlns:a="http://schemas.openxmlformats.org/drawingml/2006/main">
              <a:ext uri="{FF2B5EF4-FFF2-40B4-BE49-F238E27FC236}">
                <a16:creationId xmlns:a16="http://schemas.microsoft.com/office/drawing/2014/main" id="{F7B2FA93-FDD4-4ADC-BE4C-5E440BD0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track-title-0">
            <a:extLst xmlns:a="http://schemas.openxmlformats.org/drawingml/2006/main">
              <a:ext uri="{FF2B5EF4-FFF2-40B4-BE49-F238E27FC236}">
                <a16:creationId xmlns:a16="http://schemas.microsoft.com/office/drawing/2014/main" id="{CDA124F7-BB85-4E65-9B5E-B5577B38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frente_1</a:t>
            </a:r>
          </a:p>
        </p:txBody>
      </p:sp>
      <p:sp>
        <p:nvSpPr>
          <p:cNvPr id="9" name="track-body-0">
            <a:extLst xmlns:a="http://schemas.openxmlformats.org/drawingml/2006/main">
              <a:ext uri="{FF2B5EF4-FFF2-40B4-BE49-F238E27FC236}">
                <a16:creationId xmlns:a16="http://schemas.microsoft.com/office/drawing/2014/main" id="{9CBCC020-F80F-4A27-82AA-3ABA1CDE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7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B6472"/>
                </a:solidFill>
                <a:latin typeface="Arial"/>
                <a:ea typeface="Arial"/>
                <a:cs typeface="Arial"/>
              </a:rPr>
              <a:t>Vãos de 1 bloco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7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B6472"/>
                </a:solidFill>
                <a:latin typeface="Arial"/>
                <a:ea typeface="Arial"/>
                <a:cs typeface="Arial"/>
              </a:rPr>
              <a:t>Primeiro treino</a:t>
            </a:r>
          </a:p>
        </p:txBody>
      </p:sp>
      <p:sp>
        <p:nvSpPr>
          <p:cNvPr id="10" name="track-dot-1">
            <a:extLst xmlns:a="http://schemas.openxmlformats.org/drawingml/2006/main">
              <a:ext uri="{FF2B5EF4-FFF2-40B4-BE49-F238E27FC236}">
                <a16:creationId xmlns:a16="http://schemas.microsoft.com/office/drawing/2014/main" id="{1701F19E-D64C-4D56-B941-9469C802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718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rack-num-1">
            <a:extLst xmlns:a="http://schemas.openxmlformats.org/drawingml/2006/main">
              <a:ext uri="{FF2B5EF4-FFF2-40B4-BE49-F238E27FC236}">
                <a16:creationId xmlns:a16="http://schemas.microsoft.com/office/drawing/2014/main" id="{C38EFFEC-816D-40F3-A581-A443992D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76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track-title-1">
            <a:extLst xmlns:a="http://schemas.openxmlformats.org/drawingml/2006/main">
              <a:ext uri="{FF2B5EF4-FFF2-40B4-BE49-F238E27FC236}">
                <a16:creationId xmlns:a16="http://schemas.microsoft.com/office/drawing/2014/main" id="{51EFA746-41D6-4A4C-8BAB-A80AEF24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766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frente_2</a:t>
            </a:r>
          </a:p>
        </p:txBody>
      </p:sp>
      <p:sp>
        <p:nvSpPr>
          <p:cNvPr id="13" name="track-body-1">
            <a:extLst xmlns:a="http://schemas.openxmlformats.org/drawingml/2006/main">
              <a:ext uri="{FF2B5EF4-FFF2-40B4-BE49-F238E27FC236}">
                <a16:creationId xmlns:a16="http://schemas.microsoft.com/office/drawing/2014/main" id="{4FFF117C-8479-4636-BCB3-6CF18304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6720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7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B6472"/>
                </a:solidFill>
                <a:latin typeface="Arial"/>
                <a:ea typeface="Arial"/>
                <a:cs typeface="Arial"/>
              </a:rPr>
              <a:t>Vãos de 2 blocos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7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B6472"/>
                </a:solidFill>
                <a:latin typeface="Arial"/>
                <a:ea typeface="Arial"/>
                <a:cs typeface="Arial"/>
              </a:rPr>
              <a:t>Mais velocidade</a:t>
            </a:r>
          </a:p>
        </p:txBody>
      </p:sp>
      <p:sp>
        <p:nvSpPr>
          <p:cNvPr id="14" name="track-dot-2">
            <a:extLst xmlns:a="http://schemas.openxmlformats.org/drawingml/2006/main">
              <a:ext uri="{FF2B5EF4-FFF2-40B4-BE49-F238E27FC236}">
                <a16:creationId xmlns:a16="http://schemas.microsoft.com/office/drawing/2014/main" id="{DF0B8DCD-6C5F-49D6-8726-5FA98A02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718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ack-num-2">
            <a:extLst xmlns:a="http://schemas.openxmlformats.org/drawingml/2006/main">
              <a:ext uri="{FF2B5EF4-FFF2-40B4-BE49-F238E27FC236}">
                <a16:creationId xmlns:a16="http://schemas.microsoft.com/office/drawing/2014/main" id="{1C08521F-092F-44BF-BC49-6F435156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track-title-2">
            <a:extLst xmlns:a="http://schemas.openxmlformats.org/drawingml/2006/main">
              <a:ext uri="{FF2B5EF4-FFF2-40B4-BE49-F238E27FC236}">
                <a16:creationId xmlns:a16="http://schemas.microsoft.com/office/drawing/2014/main" id="{E7EB1CEA-FE8B-48C4-925E-65B7A539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766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frente_3</a:t>
            </a:r>
          </a:p>
        </p:txBody>
      </p:sp>
      <p:sp>
        <p:nvSpPr>
          <p:cNvPr id="17" name="track-body-2">
            <a:extLst xmlns:a="http://schemas.openxmlformats.org/drawingml/2006/main">
              <a:ext uri="{FF2B5EF4-FFF2-40B4-BE49-F238E27FC236}">
                <a16:creationId xmlns:a16="http://schemas.microsoft.com/office/drawing/2014/main" id="{25601640-85F2-4702-A254-8A832879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6720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7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B6472"/>
                </a:solidFill>
                <a:latin typeface="Arial"/>
                <a:ea typeface="Arial"/>
                <a:cs typeface="Arial"/>
              </a:rPr>
              <a:t>Alturas variadas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7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B6472"/>
                </a:solidFill>
                <a:latin typeface="Arial"/>
                <a:ea typeface="Arial"/>
                <a:cs typeface="Arial"/>
              </a:rPr>
              <a:t>Queda com dano</a:t>
            </a:r>
          </a:p>
        </p:txBody>
      </p:sp>
      <p:sp>
        <p:nvSpPr>
          <p:cNvPr id="18" name="track-takeaway">
            <a:extLst xmlns:a="http://schemas.openxmlformats.org/drawingml/2006/main">
              <a:ext uri="{FF2B5EF4-FFF2-40B4-BE49-F238E27FC236}">
                <a16:creationId xmlns:a16="http://schemas.microsoft.com/office/drawing/2014/main" id="{6B012E5F-E9B8-4019-BAD6-FCA8AB21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dificuldade cresce sem trocar o algoritmo — muda apenas o cenário observado.</a:t>
            </a:r>
          </a:p>
        </p:txBody>
      </p:sp>
    </p:spTree>
    <p:extLst>
      <p:ext uri="{BB962C8B-B14F-4D97-AF65-F5344CB8AC3E}">
        <p14:creationId xmlns:p14="http://schemas.microsoft.com/office/powerpoint/2010/main" val="2946738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4">
            <a:extLst xmlns:a="http://schemas.openxmlformats.org/drawingml/2006/main">
              <a:ext uri="{FF2B5EF4-FFF2-40B4-BE49-F238E27FC236}">
                <a16:creationId xmlns:a16="http://schemas.microsoft.com/office/drawing/2014/main" id="{D72AF3F4-71AC-4858-948A-05755E84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MODELAGEM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F90F07AB-8296-4C69-A24B-F4E66F46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Modelar bem torna a física aprendível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82C59F3E-8C99-4B36-9EC1-6F02A03B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model-arrow-1">
            <a:extLst xmlns:a="http://schemas.openxmlformats.org/drawingml/2006/main">
              <a:ext uri="{FF2B5EF4-FFF2-40B4-BE49-F238E27FC236}">
                <a16:creationId xmlns:a16="http://schemas.microsoft.com/office/drawing/2014/main" id="{A0BF7E6D-C2F9-4594-B935-70B19D0D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2099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odel-arrowhead-1">
            <a:extLst xmlns:a="http://schemas.openxmlformats.org/drawingml/2006/main">
              <a:ext uri="{FF2B5EF4-FFF2-40B4-BE49-F238E27FC236}">
                <a16:creationId xmlns:a16="http://schemas.microsoft.com/office/drawing/2014/main" id="{5D8D9561-4C1F-4495-AF92-EFF51292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1051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odel-arrow-2">
            <a:extLst xmlns:a="http://schemas.openxmlformats.org/drawingml/2006/main">
              <a:ext uri="{FF2B5EF4-FFF2-40B4-BE49-F238E27FC236}">
                <a16:creationId xmlns:a16="http://schemas.microsoft.com/office/drawing/2014/main" id="{36A236FC-C0D9-45C0-9DAD-0C0AEDD4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099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odel-arrowhead-2">
            <a:extLst xmlns:a="http://schemas.openxmlformats.org/drawingml/2006/main">
              <a:ext uri="{FF2B5EF4-FFF2-40B4-BE49-F238E27FC236}">
                <a16:creationId xmlns:a16="http://schemas.microsoft.com/office/drawing/2014/main" id="{D1BE4D85-A76F-4233-9997-1A0A03FC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051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del-panel-0">
            <a:extLst xmlns:a="http://schemas.openxmlformats.org/drawingml/2006/main">
              <a:ext uri="{FF2B5EF4-FFF2-40B4-BE49-F238E27FC236}">
                <a16:creationId xmlns:a16="http://schemas.microsoft.com/office/drawing/2014/main" id="{43BCA9AC-E8EE-4585-81ED-8DDED9FD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32766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odel-title-0">
            <a:extLst xmlns:a="http://schemas.openxmlformats.org/drawingml/2006/main">
              <a:ext uri="{FF2B5EF4-FFF2-40B4-BE49-F238E27FC236}">
                <a16:creationId xmlns:a16="http://schemas.microsoft.com/office/drawing/2014/main" id="{804368AC-16B2-4D10-B031-E0E44398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10" name="model-big-0">
            <a:extLst xmlns:a="http://schemas.openxmlformats.org/drawingml/2006/main">
              <a:ext uri="{FF2B5EF4-FFF2-40B4-BE49-F238E27FC236}">
                <a16:creationId xmlns:a16="http://schemas.microsoft.com/office/drawing/2014/main" id="{DC512D34-5938-445C-907B-295342F3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743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3.456</a:t>
            </a:r>
          </a:p>
        </p:txBody>
      </p:sp>
      <p:sp>
        <p:nvSpPr>
          <p:cNvPr id="11" name="model-unit-0">
            <a:extLst xmlns:a="http://schemas.openxmlformats.org/drawingml/2006/main">
              <a:ext uri="{FF2B5EF4-FFF2-40B4-BE49-F238E27FC236}">
                <a16:creationId xmlns:a16="http://schemas.microsoft.com/office/drawing/2014/main" id="{7B95117E-AEE0-4FED-9B37-BC842FF0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7575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472"/>
                </a:solidFill>
                <a:latin typeface="Arial"/>
                <a:ea typeface="Arial"/>
                <a:cs typeface="Arial"/>
              </a:rPr>
              <a:t>situações</a:t>
            </a:r>
          </a:p>
        </p:txBody>
      </p:sp>
      <p:sp>
        <p:nvSpPr>
          <p:cNvPr id="12" name="model-body-0">
            <a:extLst xmlns:a="http://schemas.openxmlformats.org/drawingml/2006/main">
              <a:ext uri="{FF2B5EF4-FFF2-40B4-BE49-F238E27FC236}">
                <a16:creationId xmlns:a16="http://schemas.microsoft.com/office/drawing/2014/main" id="{ADF87DFE-7518-48B5-871B-5FBBE6B3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27432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Piso nas 4 células seguintes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Altura do apoio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Fase do salto e velocidade</a:t>
            </a:r>
          </a:p>
        </p:txBody>
      </p:sp>
      <p:sp>
        <p:nvSpPr>
          <p:cNvPr id="13" name="model-panel-1">
            <a:extLst xmlns:a="http://schemas.openxmlformats.org/drawingml/2006/main">
              <a:ext uri="{FF2B5EF4-FFF2-40B4-BE49-F238E27FC236}">
                <a16:creationId xmlns:a16="http://schemas.microsoft.com/office/drawing/2014/main" id="{BE5DC668-F01B-4B4C-BAA0-12AF1129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24050"/>
            <a:ext cx="32766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odel-title-1">
            <a:extLst xmlns:a="http://schemas.openxmlformats.org/drawingml/2006/main">
              <a:ext uri="{FF2B5EF4-FFF2-40B4-BE49-F238E27FC236}">
                <a16:creationId xmlns:a16="http://schemas.microsoft.com/office/drawing/2014/main" id="{7D7213CE-EDE7-4A95-917B-2F246BB9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9075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Ações</a:t>
            </a:r>
          </a:p>
        </p:txBody>
      </p:sp>
      <p:sp>
        <p:nvSpPr>
          <p:cNvPr id="15" name="model-big-1">
            <a:extLst xmlns:a="http://schemas.openxmlformats.org/drawingml/2006/main">
              <a:ext uri="{FF2B5EF4-FFF2-40B4-BE49-F238E27FC236}">
                <a16:creationId xmlns:a16="http://schemas.microsoft.com/office/drawing/2014/main" id="{10061FF7-D207-4483-9396-1E562ED5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24150"/>
            <a:ext cx="2743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model-unit-1">
            <a:extLst xmlns:a="http://schemas.openxmlformats.org/drawingml/2006/main">
              <a:ext uri="{FF2B5EF4-FFF2-40B4-BE49-F238E27FC236}">
                <a16:creationId xmlns:a16="http://schemas.microsoft.com/office/drawing/2014/main" id="{34C186C2-38DA-4D76-A31B-181B6760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57575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controles</a:t>
            </a:r>
          </a:p>
        </p:txBody>
      </p:sp>
      <p:sp>
        <p:nvSpPr>
          <p:cNvPr id="17" name="model-body-1">
            <a:extLst xmlns:a="http://schemas.openxmlformats.org/drawingml/2006/main">
              <a:ext uri="{FF2B5EF4-FFF2-40B4-BE49-F238E27FC236}">
                <a16:creationId xmlns:a16="http://schemas.microsoft.com/office/drawing/2014/main" id="{AD3B168E-D8F4-4EDF-BD87-45E839A3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38600"/>
            <a:ext cx="27432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Andar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Correr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Correr + pular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Andar + pular</a:t>
            </a:r>
          </a:p>
        </p:txBody>
      </p:sp>
      <p:sp>
        <p:nvSpPr>
          <p:cNvPr id="18" name="model-panel-2">
            <a:extLst xmlns:a="http://schemas.openxmlformats.org/drawingml/2006/main">
              <a:ext uri="{FF2B5EF4-FFF2-40B4-BE49-F238E27FC236}">
                <a16:creationId xmlns:a16="http://schemas.microsoft.com/office/drawing/2014/main" id="{1980015A-CD4E-401F-A911-A18A8824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24050"/>
            <a:ext cx="32766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odel-title-2">
            <a:extLst xmlns:a="http://schemas.openxmlformats.org/drawingml/2006/main">
              <a:ext uri="{FF2B5EF4-FFF2-40B4-BE49-F238E27FC236}">
                <a16:creationId xmlns:a16="http://schemas.microsoft.com/office/drawing/2014/main" id="{0AB68516-4DC9-4B11-8A91-262EA1C4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9075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Recompensa</a:t>
            </a:r>
          </a:p>
        </p:txBody>
      </p:sp>
      <p:sp>
        <p:nvSpPr>
          <p:cNvPr id="20" name="model-big-2">
            <a:extLst xmlns:a="http://schemas.openxmlformats.org/drawingml/2006/main">
              <a:ext uri="{FF2B5EF4-FFF2-40B4-BE49-F238E27FC236}">
                <a16:creationId xmlns:a16="http://schemas.microsoft.com/office/drawing/2014/main" id="{A3D46A71-C6A5-47C4-B490-7A7CA337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24150"/>
            <a:ext cx="2743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 / −</a:t>
            </a:r>
          </a:p>
        </p:txBody>
      </p:sp>
      <p:sp>
        <p:nvSpPr>
          <p:cNvPr id="21" name="model-unit-2">
            <a:extLst xmlns:a="http://schemas.openxmlformats.org/drawingml/2006/main">
              <a:ext uri="{FF2B5EF4-FFF2-40B4-BE49-F238E27FC236}">
                <a16:creationId xmlns:a16="http://schemas.microsoft.com/office/drawing/2014/main" id="{33FAC472-CF37-4DA6-90A4-55AC746C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57575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B6472"/>
                </a:solidFill>
                <a:latin typeface="Arial"/>
                <a:ea typeface="Arial"/>
                <a:cs typeface="Arial"/>
              </a:rPr>
              <a:t>sinais</a:t>
            </a:r>
          </a:p>
        </p:txBody>
      </p:sp>
      <p:sp>
        <p:nvSpPr>
          <p:cNvPr id="22" name="model-body-2">
            <a:extLst xmlns:a="http://schemas.openxmlformats.org/drawingml/2006/main">
              <a:ext uri="{FF2B5EF4-FFF2-40B4-BE49-F238E27FC236}">
                <a16:creationId xmlns:a16="http://schemas.microsoft.com/office/drawing/2014/main" id="{153A601E-7DA0-4C64-89EB-C7483E63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38600"/>
            <a:ext cx="27432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Avançar e chegar: positivo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Demorar, cair ou travar: negativo</a:t>
            </a:r>
          </a:p>
        </p:txBody>
      </p:sp>
    </p:spTree>
    <p:extLst>
      <p:ext uri="{BB962C8B-B14F-4D97-AF65-F5344CB8AC3E}">
        <p14:creationId xmlns:p14="http://schemas.microsoft.com/office/powerpoint/2010/main" val="6234347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5">
            <a:extLst xmlns:a="http://schemas.openxmlformats.org/drawingml/2006/main">
              <a:ext uri="{FF2B5EF4-FFF2-40B4-BE49-F238E27FC236}">
                <a16:creationId xmlns:a16="http://schemas.microsoft.com/office/drawing/2014/main" id="{508073B8-B350-4ED6-9E53-53C990CB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MODELAGEM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2F3B9F1B-22BB-4F82-85C5-1B28EE5F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tabela Q melhora a ação a cada experiência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909B46E0-A969-4650-ACC5-7672DA48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bellman-panel">
            <a:extLst xmlns:a="http://schemas.openxmlformats.org/drawingml/2006/main">
              <a:ext uri="{FF2B5EF4-FFF2-40B4-BE49-F238E27FC236}">
                <a16:creationId xmlns:a16="http://schemas.microsoft.com/office/drawing/2014/main" id="{4127D7CB-725C-4809-A3AE-C0DDA949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53911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ellman-label">
            <a:extLst xmlns:a="http://schemas.openxmlformats.org/drawingml/2006/main">
              <a:ext uri="{FF2B5EF4-FFF2-40B4-BE49-F238E27FC236}">
                <a16:creationId xmlns:a16="http://schemas.microsoft.com/office/drawing/2014/main" id="{C10B44FD-2A5E-4859-972C-63075A9E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ATUALIZAÇÃO DE BELLMAN</a:t>
            </a:r>
          </a:p>
        </p:txBody>
      </p:sp>
      <p:sp>
        <p:nvSpPr>
          <p:cNvPr id="6" name="bellman-equation">
            <a:extLst xmlns:a="http://schemas.openxmlformats.org/drawingml/2006/main">
              <a:ext uri="{FF2B5EF4-FFF2-40B4-BE49-F238E27FC236}">
                <a16:creationId xmlns:a16="http://schemas.microsoft.com/office/drawing/2014/main" id="{AD25C422-4960-4494-9736-E1894AE7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Q(s,a) ← Q(s,a) + α ·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[r + γ · max Q(s′,a′) − Q(s,a)]</a:t>
            </a:r>
          </a:p>
        </p:txBody>
      </p:sp>
      <p:sp>
        <p:nvSpPr>
          <p:cNvPr id="7" name="bellman-params">
            <a:extLst xmlns:a="http://schemas.openxmlformats.org/drawingml/2006/main">
              <a:ext uri="{FF2B5EF4-FFF2-40B4-BE49-F238E27FC236}">
                <a16:creationId xmlns:a16="http://schemas.microsoft.com/office/drawing/2014/main" id="{1A9896DB-9851-4052-8AB5-94CEB423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5B6472"/>
                </a:solidFill>
                <a:latin typeface="Arial"/>
                <a:ea typeface="Arial"/>
                <a:cs typeface="Arial"/>
              </a:rPr>
              <a:t>α = 0,20     γ = 0,97</a:t>
            </a:r>
          </a:p>
        </p:txBody>
      </p:sp>
      <p:sp>
        <p:nvSpPr>
          <p:cNvPr id="8" name="epsilon-title">
            <a:extLst xmlns:a="http://schemas.openxmlformats.org/drawingml/2006/main">
              <a:ext uri="{FF2B5EF4-FFF2-40B4-BE49-F238E27FC236}">
                <a16:creationId xmlns:a16="http://schemas.microsoft.com/office/drawing/2014/main" id="{0A031764-4B4A-477D-9726-06DCF86F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240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Explorar antes de confiar</a:t>
            </a:r>
          </a:p>
        </p:txBody>
      </p:sp>
      <p:sp>
        <p:nvSpPr>
          <p:cNvPr id="9" name="epsilon-big">
            <a:extLst xmlns:a="http://schemas.openxmlformats.org/drawingml/2006/main">
              <a:ext uri="{FF2B5EF4-FFF2-40B4-BE49-F238E27FC236}">
                <a16:creationId xmlns:a16="http://schemas.microsoft.com/office/drawing/2014/main" id="{BC9E4E6F-E1DD-45A5-A569-B9B17604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860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ε: 1,00 → 0,05</a:t>
            </a:r>
          </a:p>
        </p:txBody>
      </p:sp>
      <p:sp>
        <p:nvSpPr>
          <p:cNvPr id="10" name="epsilon-bullets">
            <a:extLst xmlns:a="http://schemas.openxmlformats.org/drawingml/2006/main">
              <a:ext uri="{FF2B5EF4-FFF2-40B4-BE49-F238E27FC236}">
                <a16:creationId xmlns:a16="http://schemas.microsoft.com/office/drawing/2014/main" id="{5F6737F2-A2FC-440E-AE2B-A87C86DA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33800"/>
            <a:ext cx="4762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com probabilidade ε, sorteia uma ação permitida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caso contrário, usa o maior valor já aprendido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 decaimento 0,9995 mantém exploração por milhares de episódios</a:t>
            </a:r>
          </a:p>
        </p:txBody>
      </p:sp>
    </p:spTree>
    <p:extLst>
      <p:ext uri="{BB962C8B-B14F-4D97-AF65-F5344CB8AC3E}">
        <p14:creationId xmlns:p14="http://schemas.microsoft.com/office/powerpoint/2010/main" val="15668325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6">
            <a:extLst xmlns:a="http://schemas.openxmlformats.org/drawingml/2006/main">
              <a:ext uri="{FF2B5EF4-FFF2-40B4-BE49-F238E27FC236}">
                <a16:creationId xmlns:a16="http://schemas.microsoft.com/office/drawing/2014/main" id="{0092E80E-F964-41B3-A573-504E0D3E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IMPLEMENTAÇÃO SIMPLES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B5B72760-98E6-41C7-81DC-E640F920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Cada episódio fecha um ciclo entre jogo e aprendizado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D327006B-E7CD-4A5F-A40C-EFF6663F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cycle-link-0">
            <a:extLst xmlns:a="http://schemas.openxmlformats.org/drawingml/2006/main">
              <a:ext uri="{FF2B5EF4-FFF2-40B4-BE49-F238E27FC236}">
                <a16:creationId xmlns:a16="http://schemas.microsoft.com/office/drawing/2014/main" id="{64D47511-1459-4600-A5EB-45B260FD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52800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ycle-head-0">
            <a:extLst xmlns:a="http://schemas.openxmlformats.org/drawingml/2006/main">
              <a:ext uri="{FF2B5EF4-FFF2-40B4-BE49-F238E27FC236}">
                <a16:creationId xmlns:a16="http://schemas.microsoft.com/office/drawing/2014/main" id="{4883B5A8-D3C1-4527-B633-3D6BF404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57550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ycle-link-1">
            <a:extLst xmlns:a="http://schemas.openxmlformats.org/drawingml/2006/main">
              <a:ext uri="{FF2B5EF4-FFF2-40B4-BE49-F238E27FC236}">
                <a16:creationId xmlns:a16="http://schemas.microsoft.com/office/drawing/2014/main" id="{34A4DE1A-8877-41AA-BC98-8AA6B6A5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52800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ycle-head-1">
            <a:extLst xmlns:a="http://schemas.openxmlformats.org/drawingml/2006/main">
              <a:ext uri="{FF2B5EF4-FFF2-40B4-BE49-F238E27FC236}">
                <a16:creationId xmlns:a16="http://schemas.microsoft.com/office/drawing/2014/main" id="{9CB7F9A5-41B3-498B-A86C-34E9A8BD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57550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ycle-link-2">
            <a:extLst xmlns:a="http://schemas.openxmlformats.org/drawingml/2006/main">
              <a:ext uri="{FF2B5EF4-FFF2-40B4-BE49-F238E27FC236}">
                <a16:creationId xmlns:a16="http://schemas.microsoft.com/office/drawing/2014/main" id="{CFB5A512-1245-4B86-836B-D1777F81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52800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ycle-head-2">
            <a:extLst xmlns:a="http://schemas.openxmlformats.org/drawingml/2006/main">
              <a:ext uri="{FF2B5EF4-FFF2-40B4-BE49-F238E27FC236}">
                <a16:creationId xmlns:a16="http://schemas.microsoft.com/office/drawing/2014/main" id="{8141C648-C08B-4CE3-9281-F38D37A1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57550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ycle-link-3">
            <a:extLst xmlns:a="http://schemas.openxmlformats.org/drawingml/2006/main">
              <a:ext uri="{FF2B5EF4-FFF2-40B4-BE49-F238E27FC236}">
                <a16:creationId xmlns:a16="http://schemas.microsoft.com/office/drawing/2014/main" id="{C9927062-4E1E-49DE-9DDD-1544446B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52800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ycle-head-3">
            <a:extLst xmlns:a="http://schemas.openxmlformats.org/drawingml/2006/main">
              <a:ext uri="{FF2B5EF4-FFF2-40B4-BE49-F238E27FC236}">
                <a16:creationId xmlns:a16="http://schemas.microsoft.com/office/drawing/2014/main" id="{BF919163-7082-4848-B0D6-3311FF33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57550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ycle-node-0">
            <a:extLst xmlns:a="http://schemas.openxmlformats.org/drawingml/2006/main">
              <a:ext uri="{FF2B5EF4-FFF2-40B4-BE49-F238E27FC236}">
                <a16:creationId xmlns:a16="http://schemas.microsoft.com/office/drawing/2014/main" id="{B97708AE-8D7C-400E-91DA-254565A5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8097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ycle-n-0">
            <a:extLst xmlns:a="http://schemas.openxmlformats.org/drawingml/2006/main">
              <a:ext uri="{FF2B5EF4-FFF2-40B4-BE49-F238E27FC236}">
                <a16:creationId xmlns:a16="http://schemas.microsoft.com/office/drawing/2014/main" id="{B21752CE-696A-4C35-9157-2F0CD321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cycle-title-0">
            <a:extLst xmlns:a="http://schemas.openxmlformats.org/drawingml/2006/main">
              <a:ext uri="{FF2B5EF4-FFF2-40B4-BE49-F238E27FC236}">
                <a16:creationId xmlns:a16="http://schemas.microsoft.com/office/drawing/2014/main" id="{5BE477AD-DE98-4D56-9650-D63398A7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Minecraft</a:t>
            </a:r>
          </a:p>
        </p:txBody>
      </p:sp>
      <p:sp>
        <p:nvSpPr>
          <p:cNvPr id="15" name="cycle-body-0">
            <a:extLst xmlns:a="http://schemas.openxmlformats.org/drawingml/2006/main">
              <a:ext uri="{FF2B5EF4-FFF2-40B4-BE49-F238E27FC236}">
                <a16:creationId xmlns:a16="http://schemas.microsoft.com/office/drawing/2014/main" id="{56C4D51B-8966-4122-BCA0-EDCC8FF8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472"/>
                </a:solidFill>
                <a:latin typeface="Arial"/>
                <a:ea typeface="Arial"/>
                <a:cs typeface="Arial"/>
              </a:rPr>
              <a:t>posição e velocidade reais</a:t>
            </a:r>
          </a:p>
        </p:txBody>
      </p:sp>
      <p:sp>
        <p:nvSpPr>
          <p:cNvPr id="16" name="cycle-node-1">
            <a:extLst xmlns:a="http://schemas.openxmlformats.org/drawingml/2006/main">
              <a:ext uri="{FF2B5EF4-FFF2-40B4-BE49-F238E27FC236}">
                <a16:creationId xmlns:a16="http://schemas.microsoft.com/office/drawing/2014/main" id="{BF7145FB-2525-4AB0-BC73-4E44F294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76500"/>
            <a:ext cx="18097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ycle-n-1">
            <a:extLst xmlns:a="http://schemas.openxmlformats.org/drawingml/2006/main">
              <a:ext uri="{FF2B5EF4-FFF2-40B4-BE49-F238E27FC236}">
                <a16:creationId xmlns:a16="http://schemas.microsoft.com/office/drawing/2014/main" id="{1639BE55-E4D7-47D5-8C15-1B79A0A8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670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cycle-title-1">
            <a:extLst xmlns:a="http://schemas.openxmlformats.org/drawingml/2006/main">
              <a:ext uri="{FF2B5EF4-FFF2-40B4-BE49-F238E27FC236}">
                <a16:creationId xmlns:a16="http://schemas.microsoft.com/office/drawing/2014/main" id="{4579A204-48F2-4E38-988D-79598597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623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19" name="cycle-body-1">
            <a:extLst xmlns:a="http://schemas.openxmlformats.org/drawingml/2006/main">
              <a:ext uri="{FF2B5EF4-FFF2-40B4-BE49-F238E27FC236}">
                <a16:creationId xmlns:a16="http://schemas.microsoft.com/office/drawing/2014/main" id="{A166CB27-80CB-4B39-8AAB-1FC25986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147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472"/>
                </a:solidFill>
                <a:latin typeface="Arial"/>
                <a:ea typeface="Arial"/>
                <a:cs typeface="Arial"/>
              </a:rPr>
              <a:t>situação vira um índice</a:t>
            </a:r>
          </a:p>
        </p:txBody>
      </p:sp>
      <p:sp>
        <p:nvSpPr>
          <p:cNvPr id="20" name="cycle-node-2">
            <a:extLst xmlns:a="http://schemas.openxmlformats.org/drawingml/2006/main">
              <a:ext uri="{FF2B5EF4-FFF2-40B4-BE49-F238E27FC236}">
                <a16:creationId xmlns:a16="http://schemas.microsoft.com/office/drawing/2014/main" id="{64A6412B-FE25-4601-9A9F-A8BF1A16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18097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ycle-n-2">
            <a:extLst xmlns:a="http://schemas.openxmlformats.org/drawingml/2006/main">
              <a:ext uri="{FF2B5EF4-FFF2-40B4-BE49-F238E27FC236}">
                <a16:creationId xmlns:a16="http://schemas.microsoft.com/office/drawing/2014/main" id="{0F80FAF6-7E64-46B8-8525-041ACE04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670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cycle-title-2">
            <a:extLst xmlns:a="http://schemas.openxmlformats.org/drawingml/2006/main">
              <a:ext uri="{FF2B5EF4-FFF2-40B4-BE49-F238E27FC236}">
                <a16:creationId xmlns:a16="http://schemas.microsoft.com/office/drawing/2014/main" id="{CE7086A9-44AF-4EBC-8689-01F1179F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623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Ação</a:t>
            </a:r>
          </a:p>
        </p:txBody>
      </p:sp>
      <p:sp>
        <p:nvSpPr>
          <p:cNvPr id="23" name="cycle-body-2">
            <a:extLst xmlns:a="http://schemas.openxmlformats.org/drawingml/2006/main">
              <a:ext uri="{FF2B5EF4-FFF2-40B4-BE49-F238E27FC236}">
                <a16:creationId xmlns:a16="http://schemas.microsoft.com/office/drawing/2014/main" id="{584C8DA5-F5B1-4DD6-9F1C-B440339C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472"/>
                </a:solidFill>
                <a:latin typeface="Arial"/>
                <a:ea typeface="Arial"/>
                <a:cs typeface="Arial"/>
              </a:rPr>
              <a:t>andar, correr ou pular</a:t>
            </a:r>
          </a:p>
        </p:txBody>
      </p:sp>
      <p:sp>
        <p:nvSpPr>
          <p:cNvPr id="24" name="cycle-node-3">
            <a:extLst xmlns:a="http://schemas.openxmlformats.org/drawingml/2006/main">
              <a:ext uri="{FF2B5EF4-FFF2-40B4-BE49-F238E27FC236}">
                <a16:creationId xmlns:a16="http://schemas.microsoft.com/office/drawing/2014/main" id="{FCD8A248-0C5E-4AEA-B19A-902B662F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76500"/>
            <a:ext cx="18097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ycle-n-3">
            <a:extLst xmlns:a="http://schemas.openxmlformats.org/drawingml/2006/main">
              <a:ext uri="{FF2B5EF4-FFF2-40B4-BE49-F238E27FC236}">
                <a16:creationId xmlns:a16="http://schemas.microsoft.com/office/drawing/2014/main" id="{3E7EE93F-DA34-4F3B-A53C-BD65DC94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670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cycle-title-3">
            <a:extLst xmlns:a="http://schemas.openxmlformats.org/drawingml/2006/main">
              <a:ext uri="{FF2B5EF4-FFF2-40B4-BE49-F238E27FC236}">
                <a16:creationId xmlns:a16="http://schemas.microsoft.com/office/drawing/2014/main" id="{4B83FF5D-88AF-48D9-9FB4-625A4D70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623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502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Recompensa</a:t>
            </a:r>
          </a:p>
        </p:txBody>
      </p:sp>
      <p:sp>
        <p:nvSpPr>
          <p:cNvPr id="27" name="cycle-body-3">
            <a:extLst xmlns:a="http://schemas.openxmlformats.org/drawingml/2006/main">
              <a:ext uri="{FF2B5EF4-FFF2-40B4-BE49-F238E27FC236}">
                <a16:creationId xmlns:a16="http://schemas.microsoft.com/office/drawing/2014/main" id="{111D7016-C09F-40E2-89DE-898D558F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147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472"/>
                </a:solidFill>
                <a:latin typeface="Arial"/>
                <a:ea typeface="Arial"/>
                <a:cs typeface="Arial"/>
              </a:rPr>
              <a:t>avanço, queda ou meta</a:t>
            </a:r>
          </a:p>
        </p:txBody>
      </p:sp>
      <p:sp>
        <p:nvSpPr>
          <p:cNvPr id="28" name="cycle-node-4">
            <a:extLst xmlns:a="http://schemas.openxmlformats.org/drawingml/2006/main">
              <a:ext uri="{FF2B5EF4-FFF2-40B4-BE49-F238E27FC236}">
                <a16:creationId xmlns:a16="http://schemas.microsoft.com/office/drawing/2014/main" id="{CA9B3899-B978-4147-97DD-A58FD252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18097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ycle-n-4">
            <a:extLst xmlns:a="http://schemas.openxmlformats.org/drawingml/2006/main">
              <a:ext uri="{FF2B5EF4-FFF2-40B4-BE49-F238E27FC236}">
                <a16:creationId xmlns:a16="http://schemas.microsoft.com/office/drawing/2014/main" id="{D05D68D6-B929-4197-8E35-A4F75177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0" name="cycle-title-4">
            <a:extLst xmlns:a="http://schemas.openxmlformats.org/drawingml/2006/main">
              <a:ext uri="{FF2B5EF4-FFF2-40B4-BE49-F238E27FC236}">
                <a16:creationId xmlns:a16="http://schemas.microsoft.com/office/drawing/2014/main" id="{C2D8F18E-7A1A-4BF9-90FA-E3948BCF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623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Tabela Q</a:t>
            </a:r>
          </a:p>
        </p:txBody>
      </p:sp>
      <p:sp>
        <p:nvSpPr>
          <p:cNvPr id="31" name="cycle-body-4">
            <a:extLst xmlns:a="http://schemas.openxmlformats.org/drawingml/2006/main">
              <a:ext uri="{FF2B5EF4-FFF2-40B4-BE49-F238E27FC236}">
                <a16:creationId xmlns:a16="http://schemas.microsoft.com/office/drawing/2014/main" id="{F65E0D67-DFFE-4271-A3DD-EDA5BCCC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147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472"/>
                </a:solidFill>
                <a:latin typeface="Arial"/>
                <a:ea typeface="Arial"/>
                <a:cs typeface="Arial"/>
              </a:rPr>
              <a:t>Bellman atualiza o valor</a:t>
            </a:r>
          </a:p>
        </p:txBody>
      </p:sp>
      <p:sp>
        <p:nvSpPr>
          <p:cNvPr id="32" name="cycle-footer">
            <a:extLst xmlns:a="http://schemas.openxmlformats.org/drawingml/2006/main">
              <a:ext uri="{FF2B5EF4-FFF2-40B4-BE49-F238E27FC236}">
                <a16:creationId xmlns:a16="http://schemas.microsoft.com/office/drawing/2014/main" id="{FD49AFA6-B9B0-4DB9-ADAB-B42F74C4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38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Meta, queda, travamento ou tempo encerram o episódio — depois, ele reinicia.</a:t>
            </a:r>
          </a:p>
        </p:txBody>
      </p:sp>
    </p:spTree>
    <p:extLst>
      <p:ext uri="{BB962C8B-B14F-4D97-AF65-F5344CB8AC3E}">
        <p14:creationId xmlns:p14="http://schemas.microsoft.com/office/powerpoint/2010/main" val="11765505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7">
            <a:extLst xmlns:a="http://schemas.openxmlformats.org/drawingml/2006/main">
              <a:ext uri="{FF2B5EF4-FFF2-40B4-BE49-F238E27FC236}">
                <a16:creationId xmlns:a16="http://schemas.microsoft.com/office/drawing/2014/main" id="{8666320F-B3AD-4883-8D12-BDA9A08A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IMPLEMENTAÇÃO SIMPLES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BE52C5EB-9A99-4C19-AF87-3326F72D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implementação mantém algoritmo e Minecraft desacoplados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9FBF0003-A779-4C28-BCCC-CAAB4B94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impl-title">
            <a:extLst xmlns:a="http://schemas.openxmlformats.org/drawingml/2006/main">
              <a:ext uri="{FF2B5EF4-FFF2-40B4-BE49-F238E27FC236}">
                <a16:creationId xmlns:a16="http://schemas.microsoft.com/office/drawing/2014/main" id="{6B4B4A3A-FBBB-4041-BD18-BC0E597E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Núcleo do aprendizado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408479B8-6979-4644-AF00-06EEA85F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533400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ext">
            <a:extLst xmlns:a="http://schemas.openxmlformats.org/drawingml/2006/main">
              <a:ext uri="{FF2B5EF4-FFF2-40B4-BE49-F238E27FC236}">
                <a16:creationId xmlns:a16="http://schemas.microsoft.com/office/drawing/2014/main" id="{048BAB84-33DB-4887-872D-243DD412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alvo = recompensa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6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if not terminou: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6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alvo += gama * melhor_futuro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6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erro = alvo - valor_atual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6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Q[estado][acao] += alfa * erro</a:t>
            </a:r>
          </a:p>
        </p:txBody>
      </p:sp>
      <p:sp>
        <p:nvSpPr>
          <p:cNvPr id="7" name="layers-title">
            <a:extLst xmlns:a="http://schemas.openxmlformats.org/drawingml/2006/main">
              <a:ext uri="{FF2B5EF4-FFF2-40B4-BE49-F238E27FC236}">
                <a16:creationId xmlns:a16="http://schemas.microsoft.com/office/drawing/2014/main" id="{4341DBBB-3028-4A7B-92FE-C81E421D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335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Responsabilidades claras</a:t>
            </a:r>
          </a:p>
        </p:txBody>
      </p:sp>
      <p:sp>
        <p:nvSpPr>
          <p:cNvPr id="8" name="layers-bullets">
            <a:extLst xmlns:a="http://schemas.openxmlformats.org/drawingml/2006/main">
              <a:ext uri="{FF2B5EF4-FFF2-40B4-BE49-F238E27FC236}">
                <a16:creationId xmlns:a16="http://schemas.microsoft.com/office/drawing/2014/main" id="{EC3F8D63-92D8-4D3A-805D-A9746552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19350"/>
            <a:ext cx="4762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q_learning.py só conhece estados, ações e recompensas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ambiente_mc.py executa controles e observa a física real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estado.py discretiza apoios, altura, movimento e velocidade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treinar.py organiza episódios, persistência e histórico CSV</a:t>
            </a:r>
          </a:p>
        </p:txBody>
      </p:sp>
    </p:spTree>
    <p:extLst>
      <p:ext uri="{BB962C8B-B14F-4D97-AF65-F5344CB8AC3E}">
        <p14:creationId xmlns:p14="http://schemas.microsoft.com/office/powerpoint/2010/main" val="13512994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8">
            <a:extLst xmlns:a="http://schemas.openxmlformats.org/drawingml/2006/main">
              <a:ext uri="{FF2B5EF4-FFF2-40B4-BE49-F238E27FC236}">
                <a16:creationId xmlns:a16="http://schemas.microsoft.com/office/drawing/2014/main" id="{959742FC-BBBD-46D0-A80D-073FC807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IMPLEMENTAÇÃO SIMPLES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31A60039-DF14-401D-8CC2-AD5B5C8D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Bots paralelos alimentam uma única tabela Q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BB95D8F5-F58B-4884-924F-E2725AE7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parallel-equation">
            <a:extLst xmlns:a="http://schemas.openxmlformats.org/drawingml/2006/main">
              <a:ext uri="{FF2B5EF4-FFF2-40B4-BE49-F238E27FC236}">
                <a16:creationId xmlns:a16="http://schemas.microsoft.com/office/drawing/2014/main" id="{57031C7E-329F-445A-98AC-EB9F0256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571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 bots × episódios por bot</a:t>
            </a:r>
          </a:p>
        </p:txBody>
      </p:sp>
      <p:sp>
        <p:nvSpPr>
          <p:cNvPr id="5" name="parallel-example">
            <a:extLst xmlns:a="http://schemas.openxmlformats.org/drawingml/2006/main">
              <a:ext uri="{FF2B5EF4-FFF2-40B4-BE49-F238E27FC236}">
                <a16:creationId xmlns:a16="http://schemas.microsoft.com/office/drawing/2014/main" id="{D4C36F88-0D21-4644-8756-DF8AE7B0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 bots × 100 rodadas = 400 episódios</a:t>
            </a:r>
          </a:p>
        </p:txBody>
      </p:sp>
      <p:sp>
        <p:nvSpPr>
          <p:cNvPr id="6" name="parallel-divider">
            <a:extLst xmlns:a="http://schemas.openxmlformats.org/drawingml/2006/main">
              <a:ext uri="{FF2B5EF4-FFF2-40B4-BE49-F238E27FC236}">
                <a16:creationId xmlns:a16="http://schemas.microsoft.com/office/drawing/2014/main" id="{5CEE086C-0A15-4E11-B1F8-3EAC8BFE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red-title">
            <a:extLst xmlns:a="http://schemas.openxmlformats.org/drawingml/2006/main">
              <a:ext uri="{FF2B5EF4-FFF2-40B4-BE49-F238E27FC236}">
                <a16:creationId xmlns:a16="http://schemas.microsoft.com/office/drawing/2014/main" id="{645E0394-95F9-41BA-BD6D-52FF0D4B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907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27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Uma única tabela Q compartilhada</a:t>
            </a:r>
          </a:p>
        </p:txBody>
      </p:sp>
      <p:sp>
        <p:nvSpPr>
          <p:cNvPr id="8" name="parallel-bullets">
            <a:extLst xmlns:a="http://schemas.openxmlformats.org/drawingml/2006/main">
              <a:ext uri="{FF2B5EF4-FFF2-40B4-BE49-F238E27FC236}">
                <a16:creationId xmlns:a16="http://schemas.microsoft.com/office/drawing/2014/main" id="{085A3B36-B0B0-4DA8-B34C-31B01F56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28900"/>
            <a:ext cx="462915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bloqueio interno evita perder atualizações simultâneas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salvamento cria uma fotografia consistente da tabela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equipe do Minecraft desliga colisão entre os bots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cada episódio ainda usa a física real do seu bot</a:t>
            </a:r>
          </a:p>
        </p:txBody>
      </p:sp>
      <p:sp>
        <p:nvSpPr>
          <p:cNvPr id="9" name="parallel-callout">
            <a:extLst xmlns:a="http://schemas.openxmlformats.org/drawingml/2006/main">
              <a:ext uri="{FF2B5EF4-FFF2-40B4-BE49-F238E27FC236}">
                <a16:creationId xmlns:a16="http://schemas.microsoft.com/office/drawing/2014/main" id="{D5B779C5-7C98-453E-B5EF-F1400DC1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5181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allel-callout-text">
            <a:extLst xmlns:a="http://schemas.openxmlformats.org/drawingml/2006/main">
              <a:ext uri="{FF2B5EF4-FFF2-40B4-BE49-F238E27FC236}">
                <a16:creationId xmlns:a16="http://schemas.microsoft.com/office/drawing/2014/main" id="{C1C581BC-4430-4C5E-89D6-6995F516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22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 paralelismo aumenta a coleta de experiências; ele não muda o algoritmo Q-Learning.</a:t>
            </a:r>
          </a:p>
        </p:txBody>
      </p:sp>
    </p:spTree>
    <p:extLst>
      <p:ext uri="{BB962C8B-B14F-4D97-AF65-F5344CB8AC3E}">
        <p14:creationId xmlns:p14="http://schemas.microsoft.com/office/powerpoint/2010/main" val="19027685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9">
            <a:extLst xmlns:a="http://schemas.openxmlformats.org/drawingml/2006/main">
              <a:ext uri="{FF2B5EF4-FFF2-40B4-BE49-F238E27FC236}">
                <a16:creationId xmlns:a16="http://schemas.microsoft.com/office/drawing/2014/main" id="{D4B61768-C65D-4B97-9E9A-3ADB285F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RESULTADOS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EC1F4798-4A29-498B-BB43-D72D6D72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Software validado; desempenho ainda será medido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29D25F23-6E20-4CE0-AF15-539B51B1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results-qualifier">
            <a:extLst xmlns:a="http://schemas.openxmlformats.org/drawingml/2006/main">
              <a:ext uri="{FF2B5EF4-FFF2-40B4-BE49-F238E27FC236}">
                <a16:creationId xmlns:a16="http://schemas.microsoft.com/office/drawing/2014/main" id="{5002E5BF-4972-41A4-A8D7-1D2783D1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B6472"/>
                </a:solidFill>
                <a:latin typeface="Arial"/>
                <a:ea typeface="Arial"/>
                <a:cs typeface="Arial"/>
              </a:rPr>
              <a:t>Resultados disponíveis hoje: corretude do software e consistência dos cenários — não uma taxa de sucesso treinada.</a:t>
            </a:r>
          </a:p>
        </p:txBody>
      </p:sp>
      <p:sp>
        <p:nvSpPr>
          <p:cNvPr id="5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839945EB-6E41-462C-87EE-56002D6E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95600"/>
            <a:ext cx="33718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stat-1">
            <a:extLst xmlns:a="http://schemas.openxmlformats.org/drawingml/2006/main">
              <a:ext uri="{FF2B5EF4-FFF2-40B4-BE49-F238E27FC236}">
                <a16:creationId xmlns:a16="http://schemas.microsoft.com/office/drawing/2014/main" id="{1D68E104-CBB1-4A06-8755-D01D76F6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2838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30/30</a:t>
            </a:r>
          </a:p>
        </p:txBody>
      </p:sp>
      <p:sp>
        <p:nvSpPr>
          <p:cNvPr id="7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A37DA514-89E3-4784-9AD2-01FA28DF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verificações passaram</a:t>
            </a:r>
          </a:p>
        </p:txBody>
      </p:sp>
      <p:sp>
        <p:nvSpPr>
          <p:cNvPr id="8" name="metric-desc-1">
            <a:extLst xmlns:a="http://schemas.openxmlformats.org/drawingml/2006/main">
              <a:ext uri="{FF2B5EF4-FFF2-40B4-BE49-F238E27FC236}">
                <a16:creationId xmlns:a16="http://schemas.microsoft.com/office/drawing/2014/main" id="{40B34D54-203E-4F14-B978-E18D61F8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29175"/>
            <a:ext cx="283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B6472"/>
                </a:solidFill>
                <a:latin typeface="Arial"/>
                <a:ea typeface="Arial"/>
                <a:cs typeface="Arial"/>
              </a:rPr>
              <a:t>Bellman, estado, recompensa, meta, persistência, concorrência e CSV.</a:t>
            </a:r>
          </a:p>
        </p:txBody>
      </p:sp>
      <p:sp>
        <p:nvSpPr>
          <p:cNvPr id="9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DB103A99-0025-4906-9E7C-6A9C7F39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95600"/>
            <a:ext cx="33718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stat-2">
            <a:extLst xmlns:a="http://schemas.openxmlformats.org/drawingml/2006/main">
              <a:ext uri="{FF2B5EF4-FFF2-40B4-BE49-F238E27FC236}">
                <a16:creationId xmlns:a16="http://schemas.microsoft.com/office/drawing/2014/main" id="{E69ECA3A-546C-4507-9E8E-8EB3C289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257550"/>
            <a:ext cx="2838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59D8D2C8-2BAF-43EE-A4DF-FF2CE4F8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276725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pistas com rota válida</a:t>
            </a:r>
          </a:p>
        </p:txBody>
      </p:sp>
      <p:sp>
        <p:nvSpPr>
          <p:cNvPr id="12" name="metric-desc-2">
            <a:extLst xmlns:a="http://schemas.openxmlformats.org/drawingml/2006/main">
              <a:ext uri="{FF2B5EF4-FFF2-40B4-BE49-F238E27FC236}">
                <a16:creationId xmlns:a16="http://schemas.microsoft.com/office/drawing/2014/main" id="{BEB194FD-7ABA-4E40-8A25-B05B82EC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829175"/>
            <a:ext cx="283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B6472"/>
                </a:solidFill>
                <a:latin typeface="Arial"/>
                <a:ea typeface="Arial"/>
                <a:cs typeface="Arial"/>
              </a:rPr>
              <a:t>frente_1, frente_2 e frente_3 mantêm geometrias separadas.</a:t>
            </a:r>
          </a:p>
        </p:txBody>
      </p:sp>
      <p:sp>
        <p:nvSpPr>
          <p:cNvPr id="13" name="metric-panel-3">
            <a:extLst xmlns:a="http://schemas.openxmlformats.org/drawingml/2006/main">
              <a:ext uri="{FF2B5EF4-FFF2-40B4-BE49-F238E27FC236}">
                <a16:creationId xmlns:a16="http://schemas.microsoft.com/office/drawing/2014/main" id="{E097019A-6AA9-4E58-ABD5-4EF4F951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95600"/>
            <a:ext cx="33718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ric-stat-3">
            <a:extLst xmlns:a="http://schemas.openxmlformats.org/drawingml/2006/main">
              <a:ext uri="{FF2B5EF4-FFF2-40B4-BE49-F238E27FC236}">
                <a16:creationId xmlns:a16="http://schemas.microsoft.com/office/drawing/2014/main" id="{2AAA4C61-F4D0-4D85-99FE-CE26AF93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57550"/>
            <a:ext cx="2838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3.456</a:t>
            </a:r>
          </a:p>
        </p:txBody>
      </p:sp>
      <p:sp>
        <p:nvSpPr>
          <p:cNvPr id="15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7A5CEB56-FD50-488B-BFA2-EB2D42D8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76725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estados discretos</a:t>
            </a:r>
          </a:p>
        </p:txBody>
      </p:sp>
      <p:sp>
        <p:nvSpPr>
          <p:cNvPr id="16" name="metric-desc-3">
            <a:extLst xmlns:a="http://schemas.openxmlformats.org/drawingml/2006/main">
              <a:ext uri="{FF2B5EF4-FFF2-40B4-BE49-F238E27FC236}">
                <a16:creationId xmlns:a16="http://schemas.microsoft.com/office/drawing/2014/main" id="{1E465C9A-3A7D-4ED1-A658-56EF4D5B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29175"/>
            <a:ext cx="283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B6472"/>
                </a:solidFill>
                <a:latin typeface="Arial"/>
                <a:ea typeface="Arial"/>
                <a:cs typeface="Arial"/>
              </a:rPr>
              <a:t>Representação compacta para decidir saltos no corredor reto.</a:t>
            </a:r>
          </a:p>
        </p:txBody>
      </p:sp>
    </p:spTree>
    <p:extLst>
      <p:ext uri="{BB962C8B-B14F-4D97-AF65-F5344CB8AC3E}">
        <p14:creationId xmlns:p14="http://schemas.microsoft.com/office/powerpoint/2010/main" val="9008013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10">
            <a:extLst xmlns:a="http://schemas.openxmlformats.org/drawingml/2006/main">
              <a:ext uri="{FF2B5EF4-FFF2-40B4-BE49-F238E27FC236}">
                <a16:creationId xmlns:a16="http://schemas.microsoft.com/office/drawing/2014/main" id="{70AE5EA3-EB3D-4330-B2D8-DFD761C8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RESULTADOS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1026CD19-B3FE-4E14-874F-2EFC584D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 próximo passo é treinar e avaliar no servidor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1BE5F527-972D-4C98-8504-1CE8EFE6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limits-left-title">
            <a:extLst xmlns:a="http://schemas.openxmlformats.org/drawingml/2006/main">
              <a:ext uri="{FF2B5EF4-FFF2-40B4-BE49-F238E27FC236}">
                <a16:creationId xmlns:a16="http://schemas.microsoft.com/office/drawing/2014/main" id="{805E9B4A-3A0C-4D99-870E-98A96E16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 que já está pronto</a:t>
            </a:r>
          </a:p>
        </p:txBody>
      </p:sp>
      <p:sp>
        <p:nvSpPr>
          <p:cNvPr id="5" name="limits-left">
            <a:extLst xmlns:a="http://schemas.openxmlformats.org/drawingml/2006/main">
              <a:ext uri="{FF2B5EF4-FFF2-40B4-BE49-F238E27FC236}">
                <a16:creationId xmlns:a16="http://schemas.microsoft.com/office/drawing/2014/main" id="{343A7F2A-0D4D-4F1C-B978-2F733EB8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treino exclusivamente com observações reais do Minecraft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reset, queda, travamento e meta tratados no episódio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modelo e histórico CSV persistidos após cada rodada</a:t>
            </a:r>
          </a:p>
        </p:txBody>
      </p:sp>
      <p:sp>
        <p:nvSpPr>
          <p:cNvPr id="6" name="limits-right-title">
            <a:extLst xmlns:a="http://schemas.openxmlformats.org/drawingml/2006/main">
              <a:ext uri="{FF2B5EF4-FFF2-40B4-BE49-F238E27FC236}">
                <a16:creationId xmlns:a16="http://schemas.microsoft.com/office/drawing/2014/main" id="{88DE2EF8-3B61-4E88-9B0C-07D01ED9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 que falta comprovar</a:t>
            </a:r>
          </a:p>
        </p:txBody>
      </p:sp>
      <p:sp>
        <p:nvSpPr>
          <p:cNvPr id="7" name="limits-right">
            <a:extLst xmlns:a="http://schemas.openxmlformats.org/drawingml/2006/main">
              <a:ext uri="{FF2B5EF4-FFF2-40B4-BE49-F238E27FC236}">
                <a16:creationId xmlns:a16="http://schemas.microsoft.com/office/drawing/2014/main" id="{5CEFCDD0-CEFC-462D-A63B-F4F9ABBD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treinar cada pista e registrar taxa de chegada em várias tentativas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automatizar um comando de avaliação sem exploração</a:t>
            </a:r>
          </a:p>
          <a:p xmlns:a="http://schemas.openxmlformats.org/drawingml/2006/main">
            <a:pPr marL="24" indent="-14">
              <a:spcAft>
                <a:spcPts val="900"/>
              </a:spcAft>
              <a:buChar char="•"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ler blocos dinâmicos ao vivo em vez de depender só do mapa exportado</a:t>
            </a:r>
          </a:p>
        </p:txBody>
      </p:sp>
      <p:sp>
        <p:nvSpPr>
          <p:cNvPr id="8" name="limits-bottom">
            <a:extLst xmlns:a="http://schemas.openxmlformats.org/drawingml/2006/main">
              <a:ext uri="{FF2B5EF4-FFF2-40B4-BE49-F238E27FC236}">
                <a16:creationId xmlns:a16="http://schemas.microsoft.com/office/drawing/2014/main" id="{600C8865-C57A-4E24-AB4B-67D9C7BC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7687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83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Princípio de avaliação: separar “o código funciona” de “a política aprendeu”.</a:t>
            </a:r>
          </a:p>
        </p:txBody>
      </p:sp>
    </p:spTree>
    <p:extLst>
      <p:ext uri="{BB962C8B-B14F-4D97-AF65-F5344CB8AC3E}">
        <p14:creationId xmlns:p14="http://schemas.microsoft.com/office/powerpoint/2010/main" val="2679648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EEEA55CD-A129-4031-9090-B9572CF4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CONCLUSÃO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0638F1F8-970B-45C2-A2E6-4428E95A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3000"/>
              </a:lnSpc>
              <a:buNone/>
              <a:defRPr sz="4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 parkour vira um problema</a:t>
            </a:r>
          </a:p>
          <a:p xmlns:a="http://schemas.openxmlformats.org/drawingml/2006/main">
            <a:pPr>
              <a:lnSpc>
                <a:spcPct val="93000"/>
              </a:lnSpc>
              <a:buNone/>
              <a:defRPr sz="4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 aprendizado porque cada salto</a:t>
            </a:r>
          </a:p>
          <a:p xmlns:a="http://schemas.openxmlformats.org/drawingml/2006/main">
            <a:pPr>
              <a:lnSpc>
                <a:spcPct val="93000"/>
              </a:lnSpc>
              <a:buNone/>
              <a:defRPr sz="4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produz a próxima experiência.</a:t>
            </a:r>
          </a:p>
        </p:txBody>
      </p:sp>
      <p:sp>
        <p:nvSpPr>
          <p:cNvPr id="3" name="close-rule">
            <a:extLst xmlns:a="http://schemas.openxmlformats.org/drawingml/2006/main">
              <a:ext uri="{FF2B5EF4-FFF2-40B4-BE49-F238E27FC236}">
                <a16:creationId xmlns:a16="http://schemas.microsoft.com/office/drawing/2014/main" id="{F49BA5DE-44A0-4B4F-87B6-0D405577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57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label-0">
            <a:extLst xmlns:a="http://schemas.openxmlformats.org/drawingml/2006/main">
              <a:ext uri="{FF2B5EF4-FFF2-40B4-BE49-F238E27FC236}">
                <a16:creationId xmlns:a16="http://schemas.microsoft.com/office/drawing/2014/main" id="{7710A38F-9DEF-46CA-BFD9-AD3B9600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Modelagem</a:t>
            </a:r>
          </a:p>
        </p:txBody>
      </p:sp>
      <p:sp>
        <p:nvSpPr>
          <p:cNvPr id="5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A8AA4A13-BBF4-4741-A060-486D3527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472"/>
                </a:solidFill>
                <a:latin typeface="Arial"/>
                <a:ea typeface="Arial"/>
                <a:cs typeface="Arial"/>
              </a:rPr>
              <a:t>3.456 estados e 4 ações capturam o essencial do salto.</a:t>
            </a:r>
          </a:p>
        </p:txBody>
      </p:sp>
      <p:sp>
        <p:nvSpPr>
          <p:cNvPr id="6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8514BA18-7E54-404D-ADFC-357546B2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5148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Implementação</a:t>
            </a:r>
          </a:p>
        </p:txBody>
      </p:sp>
      <p:sp>
        <p:nvSpPr>
          <p:cNvPr id="7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DED6411C-6F2C-4F08-830A-6A9891CE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9911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472"/>
                </a:solidFill>
                <a:latin typeface="Arial"/>
                <a:ea typeface="Arial"/>
                <a:cs typeface="Arial"/>
              </a:rPr>
              <a:t>Minecraft fornece a física; a tabela Q guarda a experiência.</a:t>
            </a:r>
          </a:p>
        </p:txBody>
      </p:sp>
      <p:sp>
        <p:nvSpPr>
          <p:cNvPr id="8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CC48A366-4882-4438-9988-66866765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Próximo passo</a:t>
            </a:r>
          </a:p>
        </p:txBody>
      </p:sp>
      <p:sp>
        <p:nvSpPr>
          <p:cNvPr id="9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FDE86F3C-5E46-4FEA-A3F7-D7FF0741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911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472"/>
                </a:solidFill>
                <a:latin typeface="Arial"/>
                <a:ea typeface="Arial"/>
                <a:cs typeface="Arial"/>
              </a:rPr>
              <a:t>Treinar, avaliar várias tentativas e medir taxa de chegada.</a:t>
            </a:r>
          </a:p>
        </p:txBody>
      </p:sp>
    </p:spTree>
    <p:extLst>
      <p:ext uri="{BB962C8B-B14F-4D97-AF65-F5344CB8AC3E}">
        <p14:creationId xmlns:p14="http://schemas.microsoft.com/office/powerpoint/2010/main" val="3508882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2026-08-16T22:55:11.2680000Z</dcterms:created>
  <dcterms:modified xsi:type="dcterms:W3CDTF">2026-08-16T22:55:11.2680000Z</dcterms:modified>
</coreProperties>
</file>