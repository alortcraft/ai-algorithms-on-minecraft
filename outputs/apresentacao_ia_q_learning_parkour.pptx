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861b339f349ae" /><Relationship Type="http://schemas.openxmlformats.org/officeDocument/2006/relationships/extended-properties" Target="/docProps/app.xml" Id="R1bed59eb46964e76" /><Relationship Type="http://schemas.openxmlformats.org/officeDocument/2006/relationships/officeDocument" Target="/ppt/presentation.xml" Id="R188d08385b7f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58fb02bb2d4bde"/>
  </p:sldMasterIdLst>
  <p:notesMasterIdLst>
    <p:notesMasterId xmlns:r="http://schemas.openxmlformats.org/officeDocument/2006/relationships" r:id="Rfc59c3b757944835"/>
  </p:notesMasterIdLst>
  <p:sldIdLst>
    <p:sldId xmlns:r="http://schemas.openxmlformats.org/officeDocument/2006/relationships" id="256" r:id="R6dad412104584e2c"/>
    <p:sldId xmlns:r="http://schemas.openxmlformats.org/officeDocument/2006/relationships" id="257" r:id="Ra39e058a53294619"/>
    <p:sldId xmlns:r="http://schemas.openxmlformats.org/officeDocument/2006/relationships" id="258" r:id="R3cba2db422004dc8"/>
    <p:sldId xmlns:r="http://schemas.openxmlformats.org/officeDocument/2006/relationships" id="259" r:id="Rd5198e5d9ffb4e70"/>
    <p:sldId xmlns:r="http://schemas.openxmlformats.org/officeDocument/2006/relationships" id="260" r:id="R89a40ae2dd154ce2"/>
    <p:sldId xmlns:r="http://schemas.openxmlformats.org/officeDocument/2006/relationships" id="261" r:id="R6c7856634f264523"/>
    <p:sldId xmlns:r="http://schemas.openxmlformats.org/officeDocument/2006/relationships" id="262" r:id="Rd732f95babe64289"/>
    <p:sldId xmlns:r="http://schemas.openxmlformats.org/officeDocument/2006/relationships" id="263" r:id="R2c21ee1ab2734ce1"/>
    <p:sldId xmlns:r="http://schemas.openxmlformats.org/officeDocument/2006/relationships" id="264" r:id="R143ec572a37948ae"/>
    <p:sldId xmlns:r="http://schemas.openxmlformats.org/officeDocument/2006/relationships" id="265" r:id="Rbd326b2e89af4587"/>
    <p:sldId xmlns:r="http://schemas.openxmlformats.org/officeDocument/2006/relationships" id="266" r:id="R6d8a36d5d2b9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9eb3c2a2f4358" /><Relationship Type="http://schemas.openxmlformats.org/officeDocument/2006/relationships/slideMaster" Target="/ppt/slideMasters/slideMaster1.xml" Id="Rb858fb02bb2d4bde" /><Relationship Type="http://schemas.openxmlformats.org/officeDocument/2006/relationships/notesMaster" Target="/ppt/notesMasters/notesMaster1.xml" Id="Rfc59c3b757944835" /><Relationship Type="http://schemas.openxmlformats.org/officeDocument/2006/relationships/presProps" Target="/ppt/presProps.xml" Id="R88f830699d934ee2" /><Relationship Type="http://schemas.openxmlformats.org/officeDocument/2006/relationships/tableStyles" Target="/ppt/tableStyles.xml" Id="R0840c8e23ab24c73" /><Relationship Type="http://schemas.openxmlformats.org/officeDocument/2006/relationships/slide" Target="/ppt/slides/slide1.xml" Id="R6dad412104584e2c" /><Relationship Type="http://schemas.openxmlformats.org/officeDocument/2006/relationships/slide" Target="/ppt/slides/slide2.xml" Id="Ra39e058a53294619" /><Relationship Type="http://schemas.openxmlformats.org/officeDocument/2006/relationships/slide" Target="/ppt/slides/slide3.xml" Id="R3cba2db422004dc8" /><Relationship Type="http://schemas.openxmlformats.org/officeDocument/2006/relationships/slide" Target="/ppt/slides/slide4.xml" Id="Rd5198e5d9ffb4e70" /><Relationship Type="http://schemas.openxmlformats.org/officeDocument/2006/relationships/slide" Target="/ppt/slides/slide5.xml" Id="R89a40ae2dd154ce2" /><Relationship Type="http://schemas.openxmlformats.org/officeDocument/2006/relationships/slide" Target="/ppt/slides/slide6.xml" Id="R6c7856634f264523" /><Relationship Type="http://schemas.openxmlformats.org/officeDocument/2006/relationships/slide" Target="/ppt/slides/slide7.xml" Id="Rd732f95babe64289" /><Relationship Type="http://schemas.openxmlformats.org/officeDocument/2006/relationships/slide" Target="/ppt/slides/slide8.xml" Id="R2c21ee1ab2734ce1" /><Relationship Type="http://schemas.openxmlformats.org/officeDocument/2006/relationships/slide" Target="/ppt/slides/slide9.xml" Id="R143ec572a37948ae" /><Relationship Type="http://schemas.openxmlformats.org/officeDocument/2006/relationships/slide" Target="/ppt/slides/slide10.xml" Id="Rbd326b2e89af4587" /><Relationship Type="http://schemas.openxmlformats.org/officeDocument/2006/relationships/slide" Target="/ppt/slides/slide11.xml" Id="R6d8a36d5d2b9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b248fbf7a45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98a51347140f7" /><Relationship Type="http://schemas.openxmlformats.org/officeDocument/2006/relationships/notesMaster" Target="/ppt/notesMasters/notesMaster1.xml" Id="R12c943c9fe24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e20fb65c604a9b" /><Relationship Type="http://schemas.openxmlformats.org/officeDocument/2006/relationships/notesMaster" Target="/ppt/notesMasters/notesMaster1.xml" Id="R8b91056203eb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cd65c46c61434d" /><Relationship Type="http://schemas.openxmlformats.org/officeDocument/2006/relationships/notesMaster" Target="/ppt/notesMasters/notesMaster1.xml" Id="R41921df50104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ccc8b92504763" /><Relationship Type="http://schemas.openxmlformats.org/officeDocument/2006/relationships/notesMaster" Target="/ppt/notesMasters/notesMaster1.xml" Id="R9de32745f2ea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ec022aefa4735" /><Relationship Type="http://schemas.openxmlformats.org/officeDocument/2006/relationships/notesMaster" Target="/ppt/notesMasters/notesMaster1.xml" Id="R64843da96d13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647e27578436a" /><Relationship Type="http://schemas.openxmlformats.org/officeDocument/2006/relationships/notesMaster" Target="/ppt/notesMasters/notesMaster1.xml" Id="Rb42877cf8f81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f7057263eb4939" /><Relationship Type="http://schemas.openxmlformats.org/officeDocument/2006/relationships/notesMaster" Target="/ppt/notesMasters/notesMaster1.xml" Id="Raa1030ff86d44f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11653264bd45c4" /><Relationship Type="http://schemas.openxmlformats.org/officeDocument/2006/relationships/notesMaster" Target="/ppt/notesMasters/notesMaster1.xml" Id="R58c256e8581c48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6a067d16245af" /><Relationship Type="http://schemas.openxmlformats.org/officeDocument/2006/relationships/notesMaster" Target="/ppt/notesMasters/notesMaster1.xml" Id="Rd0dd384bf3c14e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6e6e5b92824be5" /><Relationship Type="http://schemas.openxmlformats.org/officeDocument/2006/relationships/notesMaster" Target="/ppt/notesMasters/notesMaster1.xml" Id="Ra4dc4c3416734b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bf863d2d1b46dd" /><Relationship Type="http://schemas.openxmlformats.org/officeDocument/2006/relationships/notesMaster" Target="/ppt/notesMasters/notesMaster1.xml" Id="Rd0fd45649731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1</a:t>
            </a:r>
          </a:p>
          <a:p xmlns:a="http://schemas.openxmlformats.org/drawingml/2006/main">
            <a:r>
              <a:t>Tempo: 0min30s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com a pergunta: como um agente aprende quando andar, correr ou pular sem receber uma regra pronta para cada obstáculo?</a:t>
            </a:r>
          </a:p>
          <a:p xmlns:a="http://schemas.openxmlformats.org/drawingml/2006/main">
            <a:r>
              <a:t>Definir Minecraft em uma frase: é apenas o ambiente 3D que fornece física, observações e consequências das ações.</a:t>
            </a:r>
          </a:p>
          <a:p xmlns:a="http://schemas.openxmlformats.org/drawingml/2006/main">
            <a:r>
              <a:t>Antecipar a ideia central: modelamos o problema como aprendizado por reforço tabular e atualizamos a tabela Q a cada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config/cenarios/labirinto_parkours.json</a:t>
            </a:r>
          </a:p>
          <a:p xmlns:a="http://schemas.openxmlformats.org/drawingml/2006/main">
            <a:r>
              <a:t>- Imagem: OpenAI ImageGen; prompt registrado em work/presentation-build/source-notes.txt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1</a:t>
            </a:r>
          </a:p>
          <a:p xmlns:a="http://schemas.openxmlformats.org/drawingml/2006/main">
            <a:r>
              <a:t>Tempo: 1min10s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 o problema como controle sequencial: o agente observa, age, recebe uma consequência e chega a uma nova situação.</a:t>
            </a:r>
          </a:p>
          <a:p xmlns:a="http://schemas.openxmlformats.org/drawingml/2006/main">
            <a:r>
              <a:t>Explicar os quatro elementos da direita. A política é epsilon-greedy e o objetivo é maximizar a soma de recompensas ao longo do episódio.</a:t>
            </a:r>
          </a:p>
          <a:p xmlns:a="http://schemas.openxmlformats.org/drawingml/2006/main">
            <a:r>
              <a:t>Evitar explicar mecânicas do jogo. Para a disciplina, basta dizer que o ambiente aplica física e informa posição e velocidade.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docs/GUIA_Q_LEARNING.md</a:t>
            </a:r>
          </a:p>
          <a:p xmlns:a="http://schemas.openxmlformats.org/drawingml/2006/main">
            <a:r>
              <a:t>- docs/COMO_O_PROJETO_FUNCIONA.md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Etapa 1: a ferramenta lê os arquivos regionais do mundo e traduz cada bloco para uma caixa de colisão com altura e largura.</a:t>
            </a:r>
          </a:p>
          <a:p xmlns:a="http://schemas.openxmlformats.org/drawingml/2006/main">
            <a:r>
              <a:t>Etapa 2: início e fim definem uma transformação de coordenadas. Qualquer direção real vira lateral, altura e progresso crescente.</a:t>
            </a:r>
          </a:p>
          <a:p xmlns:a="http://schemas.openxmlformats.org/drawingml/2006/main">
            <a:r>
              <a:t>Etapa 3: o estado consulta apoios nas quatro células seguintes e combina essa leitura com altura relativa, posição no bloco, fase vertical e velocidade.</a:t>
            </a:r>
          </a:p>
          <a:p xmlns:a="http://schemas.openxmlformats.org/drawingml/2006/main">
            <a:r>
              <a:t>O JSON é um mapa estático da geometria; a dinâmica do movimento continua sendo observada diretamente no ambiente durante cada 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tools/mapear_percurso.py</a:t>
            </a:r>
          </a:p>
          <a:p xmlns:a="http://schemas.openxmlformats.org/drawingml/2006/main">
            <a:r>
              <a:t>- tools/nbt.py</a:t>
            </a:r>
          </a:p>
          <a:p xmlns:a="http://schemas.openxmlformats.org/drawingml/2006/main">
            <a:r>
              <a:t>- tools/blocos.py</a:t>
            </a:r>
          </a:p>
          <a:p xmlns:a="http://schemas.openxmlformats.org/drawingml/2006/main">
            <a:r>
              <a:t>- src/parkour/coordenadas.py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1min35s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que Q-Learning tabular exige um índice inteiro de estado.</a:t>
            </a:r>
          </a:p>
          <a:p xmlns:a="http://schemas.openxmlformats.org/drawingml/2006/main">
            <a:r>
              <a:t>O modo piso combina quatro bits de apoio, seis classes de altura, posição no bloco, fase vertical e faixa de velocidade: 16 × 6 × 4 × 3 × 3 = 3.456.</a:t>
            </a:r>
          </a:p>
          <a:p xmlns:a="http://schemas.openxmlformats.org/drawingml/2006/main">
            <a:r>
              <a:t>As quatro ações são suficientes para o corredor reto e duram quatro ticks, aproximadamente 200 ms.</a:t>
            </a:r>
          </a:p>
          <a:p xmlns:a="http://schemas.openxmlformats.org/drawingml/2006/main">
            <a:r>
              <a:t>A recompensa usa progresso líquido para evitar ganhar pontos oscilando para frente e para trás; o detalhe completo aparece no slide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- src/parkour/acoes.py</a:t>
            </a:r>
          </a:p>
          <a:p xmlns:a="http://schemas.openxmlformats.org/drawingml/2006/main">
            <a:r>
              <a:t>- src/parkour/recompensa.py</a:t>
            </a:r>
          </a:p>
          <a:p xmlns:a="http://schemas.openxmlformats.org/drawingml/2006/main">
            <a:r>
              <a:t>- config/parkour.json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1min35s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Ler a equação em linguagem simples: comparar o valor atual com a recompensa imediata mais o melhor futuro conhecido.</a:t>
            </a:r>
          </a:p>
          <a:p xmlns:a="http://schemas.openxmlformats.org/drawingml/2006/main">
            <a:r>
              <a:t>Destacar que α controla quanto a experiência nova corrige a tabela e γ valoriza consequências futuras.</a:t>
            </a:r>
          </a:p>
          <a:p xmlns:a="http://schemas.openxmlformats.org/drawingml/2006/main">
            <a:r>
              <a:t>Explicar epsilon-greedy: com probabilidade epsilon escolhemos uma ação aleatória; caso contrário usamos a melhor ação conhecida.</a:t>
            </a:r>
          </a:p>
          <a:p xmlns:a="http://schemas.openxmlformats.org/drawingml/2006/main">
            <a:r>
              <a:t>Relacionar os valores: alfa 0,20 evita substituir completamente o passado; gama 0,97 valoriza chegar à meta; o decaimento reduz a exploração lentamente.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config/parkour.json</a:t>
            </a:r>
          </a:p>
          <a:p xmlns:a="http://schemas.openxmlformats.org/drawingml/2006/main">
            <a:r>
              <a:t>- docs/GUIA_Q_LEARNING.md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1min15s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Percorrer o fluxo usando a notação padrão de aprendizado por reforço: estado s, ação a, recompensa r e próximo estado s linha.</a:t>
            </a:r>
          </a:p>
          <a:p xmlns:a="http://schemas.openxmlformats.org/drawingml/2006/main">
            <a:r>
              <a:t>A ação dura quatro ticks, aproximadamente 200 ms. Isso reduz a frequência de decisão sem eliminar o controle do salto.</a:t>
            </a:r>
          </a:p>
          <a:p xmlns:a="http://schemas.openxmlformats.org/drawingml/2006/main">
            <a:r>
              <a:t>Nos três percursos deste experimento, o limite é 80 decisões. Ao final, a tabela e o histórico podem ser salvos e epsilon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docs/COMO_O_PROJETO_FUNCIONA.md</a:t>
            </a:r>
          </a:p>
          <a:p xmlns:a="http://schemas.openxmlformats.org/drawingml/2006/main">
            <a:r>
              <a:t>- src/parkour/ambiente_mc.py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3</a:t>
            </a:r>
          </a:p>
          <a:p xmlns:a="http://schemas.openxmlformats.org/drawingml/2006/main">
            <a:r>
              <a:t>Tempo: 1min15s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que a equação cabe em poucas linhas; a maior dificuldade não é a fórmula, mas definir boas observações e recompensas.</a:t>
            </a:r>
          </a:p>
          <a:p xmlns:a="http://schemas.openxmlformats.org/drawingml/2006/main">
            <a:r>
              <a:t>O desacoplamento permite testar Bellman, persistência, estado e recompensa sem abrir o ambiente 3D.</a:t>
            </a:r>
          </a:p>
          <a:p xmlns:a="http://schemas.openxmlformats.org/drawingml/2006/main">
            <a:r>
              <a:t>O adaptador ambiente_mc.py faz a ponte com a física real, mas não altera a lógica do Q-Learning.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src/parkour/ambiente_mc.py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3</a:t>
            </a:r>
          </a:p>
          <a:p xmlns:a="http://schemas.openxmlformats.org/drawingml/2006/main">
            <a:r>
              <a:t>Tempo: 1min10s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que a recompensa é a especificação do objetivo: o agente não sabe o que é um salto bonito, apenas tenta maximizar retorno.</a:t>
            </a:r>
          </a:p>
          <a:p xmlns:a="http://schemas.openxmlformats.org/drawingml/2006/main">
            <a:r>
              <a:t>O termo de progresso é deslocamento líquido. Se o agente avança e volta, o ganho é cancelado; isso reduz reward hacking.</a:t>
            </a:r>
          </a:p>
          <a:p xmlns:a="http://schemas.openxmlformats.org/drawingml/2006/main">
            <a:r>
              <a:t>No cenário usado, progresso só é confirmado após pousar em um apoio mapeado, evitando premiar um salto que termina em queda.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src/parkour/recompensa.py</a:t>
            </a:r>
          </a:p>
          <a:p xmlns:a="http://schemas.openxmlformats.org/drawingml/2006/main">
            <a:r>
              <a:t>- src/parkour/ambiente_mc.py</a:t>
            </a:r>
          </a:p>
          <a:p xmlns:a="http://schemas.openxmlformats.org/drawingml/2006/main">
            <a:r>
              <a:t>- config/parkour.json</a:t>
            </a:r>
          </a:p>
          <a:p xmlns:a="http://schemas.openxmlformats.org/drawingml/2006/main">
            <a:r>
              <a:t>- config/cenarios/labirinto_parkours.json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1min20s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treino mais recente do frente_1 usou 70 bots por 50 rodadas: 70 × 50 = 3.500 episódios, numerados de 1 a 3.500.</a:t>
            </a:r>
          </a:p>
          <a:p xmlns:a="http://schemas.openxmlformats.org/drawingml/2006/main">
            <a:r>
              <a:t>Nesse arquivo, 252 episódios chegaram à meta: taxa de 7,20% durante o treino.</a:t>
            </a:r>
          </a:p>
          <a:p xmlns:a="http://schemas.openxmlformats.org/drawingml/2006/main">
            <a:r>
              <a:t>Nos primeiros 1.000 registros foram 60 chegadas, ou 6,00%; nos últimos 1.000 foram 104, ou 10,40%.</a:t>
            </a:r>
          </a:p>
          <a:p xmlns:a="http://schemas.openxmlformats.org/drawingml/2006/main">
            <a:r>
              <a:t>Essas taxas são do treino com epsilon-greedy. Elas evidenciam melhora, mas não substituem uma avaliação separada com epsilon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Informação do grupo: execução com 70 bots × 50 rodadas</a:t>
            </a:r>
          </a:p>
          <a:p xmlns:a="http://schemas.openxmlformats.org/drawingml/2006/main">
            <a:r>
              <a:t>- resultados/modelos/q_learning_labirinto_parkours_frente_1_acoes_v2_estado_v2_recompensa_v2_resultado.csv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1min15s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Comparando os primeiros e os últimos 1.000 episódios, o retorno médio aumentou de 4,34 para 9,84 e o progresso válido de 26,3% para 34,3%.</a:t>
            </a:r>
          </a:p>
          <a:p xmlns:a="http://schemas.openxmlformats.org/drawingml/2006/main">
            <a:r>
              <a:t>O CSV não possui linhas com fase de avaliação; todas as 3.500 linhas são de treino com epsilon 0,05.</a:t>
            </a:r>
          </a:p>
          <a:p xmlns:a="http://schemas.openxmlformats.org/drawingml/2006/main">
            <a:r>
              <a:t>O protocolo agora é carregar a tabela, desligar exploração e aprendizado, repetir várias execuções e medir chegada, retorno e passos.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resultados/modelos/q_learning_labirinto_parkours_frente_1_acoes_v2_estado_v2_recompensa_v2_resultado.csv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0min45s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Retomar a pergunta inicial e responder: o agente aprende porque cada transição atualiza o valor de uma ação naquele estado.</a:t>
            </a:r>
          </a:p>
          <a:p xmlns:a="http://schemas.openxmlformats.org/drawingml/2006/main">
            <a:r>
              <a:t>Reforçar que a contribuição central é a modelagem: converter geometria e movimento contínuos em uma representação pequena o bastante para Q-Learning tabular.</a:t>
            </a:r>
          </a:p>
          <a:p xmlns:a="http://schemas.openxmlformats.org/drawingml/2006/main">
            <a:r>
              <a:t>Encerrar com honestidade experimental: houve treino e evolução mensurável; a política ainda precisa de uma avaliação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de README.md e dos módulos src/parkour/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3e72ef38d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1e3719e404eec" /><Relationship Type="http://schemas.openxmlformats.org/officeDocument/2006/relationships/slideLayout" Target="/ppt/slideLayouts/slideLayout1.xml" Id="R8cf139679b0e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f139679b0e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0f578cbe4a9e" /><Relationship Type="http://schemas.openxmlformats.org/officeDocument/2006/relationships/image" Target="/ppt/media/image.png" Id="R5f749471b878486f" /><Relationship Type="http://schemas.openxmlformats.org/officeDocument/2006/relationships/notesSlide" Target="/ppt/notesSlides/notesSlide1.xml" Id="Ra04f19407d6b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59b194c864ba4" /><Relationship Type="http://schemas.openxmlformats.org/officeDocument/2006/relationships/notesSlide" Target="/ppt/notesSlides/notesSlide2.xml" Id="Rfc6b40118b9a4b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6ddc82a6842cc" /><Relationship Type="http://schemas.openxmlformats.org/officeDocument/2006/relationships/notesSlide" Target="/ppt/notesSlides/notesSlide3.xml" Id="Rec6772487059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dfbef23914b96" /><Relationship Type="http://schemas.openxmlformats.org/officeDocument/2006/relationships/notesSlide" Target="/ppt/notesSlides/notesSlide4.xml" Id="Rf519a461b53d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93a44823d4dda" /><Relationship Type="http://schemas.openxmlformats.org/officeDocument/2006/relationships/notesSlide" Target="/ppt/notesSlides/notesSlide5.xml" Id="R191bca80aedf4f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4e4dea63a4d81" /><Relationship Type="http://schemas.openxmlformats.org/officeDocument/2006/relationships/notesSlide" Target="/ppt/notesSlides/notesSlide6.xml" Id="Rbd89efea947a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686816f364e14" /><Relationship Type="http://schemas.openxmlformats.org/officeDocument/2006/relationships/notesSlide" Target="/ppt/notesSlides/notesSlide7.xml" Id="R9e0496f0534d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609401f844c3" /><Relationship Type="http://schemas.openxmlformats.org/officeDocument/2006/relationships/notesSlide" Target="/ppt/notesSlides/notesSlide8.xml" Id="Rfae1d751efaa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4a8c5ecef4d96" /><Relationship Type="http://schemas.openxmlformats.org/officeDocument/2006/relationships/notesSlide" Target="/ppt/notesSlides/notesSlide9.xml" Id="R488b9c32e49f44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321dc85b4017" /><Relationship Type="http://schemas.openxmlformats.org/officeDocument/2006/relationships/notesSlide" Target="/ppt/notesSlides/notesSlide10.xml" Id="Rf81858bfbb2549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1664947994642" /><Relationship Type="http://schemas.openxmlformats.org/officeDocument/2006/relationships/notesSlide" Target="/ppt/notesSlides/notesSlide11.xml" Id="R83abec0fc40d4d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3D93C1A-3FB6-4C62-8D52-12216984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INTRODUÇÃO À INTELIGÊNCIA ARTIFICIAL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E46556E-B86F-4424-AC07-CE0C2EF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Q-Learning para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controle de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parkour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06F184-5346-4AA4-AFA8-E4019B8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472"/>
                </a:solidFill>
                <a:latin typeface="Arial"/>
                <a:ea typeface="Arial"/>
                <a:cs typeface="Arial"/>
              </a:rPr>
              <a:t>Aprendizado por reforço tabular em um ambiente 3D, com estados, ações e recompensas.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3B158AF-1B2F-4F7C-83AF-FC1DDFE0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D798CC83-28EE-45AA-AA7B-643B0500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Minecraft é apenas o ambiente experimental; o foco é a IA.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49471b878486f"/>
          <a:srcRect xmlns:a="http://schemas.openxmlformats.org/drawingml/2006/main" l="510" t="0" r="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</p:spTree>
    <p:extLst>
      <p:ext uri="{BB962C8B-B14F-4D97-AF65-F5344CB8AC3E}">
        <p14:creationId xmlns:p14="http://schemas.microsoft.com/office/powerpoint/2010/main" val="252080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2">
            <a:extLst xmlns:a="http://schemas.openxmlformats.org/drawingml/2006/main">
              <a:ext uri="{FF2B5EF4-FFF2-40B4-BE49-F238E27FC236}">
                <a16:creationId xmlns:a16="http://schemas.microsoft.com/office/drawing/2014/main" id="{3CCA2A9F-2418-4533-8FE8-BB499B3E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PROBLEMA DE IA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594AD61-E0BF-48DC-8D70-670D7033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parkour é um problema de decisão sequencial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6324C1BD-B38C-4F81-AEFB-8B5F820E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54C9A876-6D19-45F7-9479-16DEB0D6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ação altera o próximo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 do agente.</a:t>
            </a:r>
          </a:p>
        </p:txBody>
      </p:sp>
      <p:sp>
        <p:nvSpPr>
          <p:cNvPr id="5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43567A03-A16E-4780-925E-A1E5FBD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não há uma regra fixa para cada salto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decisão atual afeta as opções futuras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 objetivo é maximizar a recompensa acumulada</a:t>
            </a:r>
          </a:p>
        </p:txBody>
      </p:sp>
      <p:sp>
        <p:nvSpPr>
          <p:cNvPr id="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AF8CBD5F-CD0D-4E1F-AB95-186DB655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5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Elementos do aprendizado por reforço</a:t>
            </a:r>
          </a:p>
        </p:txBody>
      </p:sp>
      <p:sp>
        <p:nvSpPr>
          <p:cNvPr id="7" name="agenda-rule-0">
            <a:extLst xmlns:a="http://schemas.openxmlformats.org/drawingml/2006/main">
              <a:ext uri="{FF2B5EF4-FFF2-40B4-BE49-F238E27FC236}">
                <a16:creationId xmlns:a16="http://schemas.microsoft.com/office/drawing/2014/main" id="{30B77530-B4B5-4928-B134-B3377CDF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5F192FD0-2824-4A03-8A25-0A62DAC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agenda-label-0">
            <a:extLst xmlns:a="http://schemas.openxmlformats.org/drawingml/2006/main">
              <a:ext uri="{FF2B5EF4-FFF2-40B4-BE49-F238E27FC236}">
                <a16:creationId xmlns:a16="http://schemas.microsoft.com/office/drawing/2014/main" id="{C91ABDCA-B527-474B-895D-29F47FD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Agente</a:t>
            </a:r>
          </a:p>
        </p:txBody>
      </p:sp>
      <p:sp>
        <p:nvSpPr>
          <p:cNvPr id="10" name="agenda-time-0">
            <a:extLst xmlns:a="http://schemas.openxmlformats.org/drawingml/2006/main">
              <a:ext uri="{FF2B5EF4-FFF2-40B4-BE49-F238E27FC236}">
                <a16:creationId xmlns:a16="http://schemas.microsoft.com/office/drawing/2014/main" id="{18B496E4-E57D-425A-B131-ACA42DA7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bot</a:t>
            </a:r>
          </a:p>
        </p:txBody>
      </p:sp>
      <p:sp>
        <p:nvSpPr>
          <p:cNvPr id="11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E6035879-2E71-4E37-BAC6-FC680AA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18D0E0E1-8342-4D79-8352-C09AE92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agenda-label-1">
            <a:extLst xmlns:a="http://schemas.openxmlformats.org/drawingml/2006/main">
              <a:ext uri="{FF2B5EF4-FFF2-40B4-BE49-F238E27FC236}">
                <a16:creationId xmlns:a16="http://schemas.microsoft.com/office/drawing/2014/main" id="{3DAB771B-5009-4AA2-A5B8-8CF8786B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Ambiente</a:t>
            </a:r>
          </a:p>
        </p:txBody>
      </p:sp>
      <p:sp>
        <p:nvSpPr>
          <p:cNvPr id="14" name="agenda-time-1">
            <a:extLst xmlns:a="http://schemas.openxmlformats.org/drawingml/2006/main">
              <a:ext uri="{FF2B5EF4-FFF2-40B4-BE49-F238E27FC236}">
                <a16:creationId xmlns:a16="http://schemas.microsoft.com/office/drawing/2014/main" id="{E2A95A88-1CC1-4184-A793-5678C90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mundo 3D</a:t>
            </a:r>
          </a:p>
        </p:txBody>
      </p:sp>
      <p:sp>
        <p:nvSpPr>
          <p:cNvPr id="15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AA9BE699-A8CA-4D13-AF79-BDAEEBFC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53DCC2F7-952D-4667-B564-6E0BFD8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agenda-label-2">
            <a:extLst xmlns:a="http://schemas.openxmlformats.org/drawingml/2006/main">
              <a:ext uri="{FF2B5EF4-FFF2-40B4-BE49-F238E27FC236}">
                <a16:creationId xmlns:a16="http://schemas.microsoft.com/office/drawing/2014/main" id="{666BA693-B019-4CEB-AEAC-C80133D2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Política</a:t>
            </a:r>
          </a:p>
        </p:txBody>
      </p:sp>
      <p:sp>
        <p:nvSpPr>
          <p:cNvPr id="18" name="agenda-time-2">
            <a:extLst xmlns:a="http://schemas.openxmlformats.org/drawingml/2006/main">
              <a:ext uri="{FF2B5EF4-FFF2-40B4-BE49-F238E27FC236}">
                <a16:creationId xmlns:a16="http://schemas.microsoft.com/office/drawing/2014/main" id="{226BC30D-D49D-4027-8C2F-CE65980E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ε-greedy</a:t>
            </a:r>
          </a:p>
        </p:txBody>
      </p:sp>
      <p:sp>
        <p:nvSpPr>
          <p:cNvPr id="19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ED85A474-E5E9-4CDC-A6BB-D5EA5FB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16DA498B-00FA-44E1-A478-D7A94AB7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agenda-label-3">
            <a:extLst xmlns:a="http://schemas.openxmlformats.org/drawingml/2006/main">
              <a:ext uri="{FF2B5EF4-FFF2-40B4-BE49-F238E27FC236}">
                <a16:creationId xmlns:a16="http://schemas.microsoft.com/office/drawing/2014/main" id="{85B8F5DA-C82D-4A76-AE09-5156B98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22" name="agenda-time-3">
            <a:extLst xmlns:a="http://schemas.openxmlformats.org/drawingml/2006/main">
              <a:ext uri="{FF2B5EF4-FFF2-40B4-BE49-F238E27FC236}">
                <a16:creationId xmlns:a16="http://schemas.microsoft.com/office/drawing/2014/main" id="{4A528EF7-7AA7-41E8-B4E7-933F615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29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max Σr</a:t>
            </a:r>
          </a:p>
        </p:txBody>
      </p:sp>
    </p:spTree>
    <p:extLst>
      <p:ext uri="{BB962C8B-B14F-4D97-AF65-F5344CB8AC3E}">
        <p14:creationId xmlns:p14="http://schemas.microsoft.com/office/powerpoint/2010/main" val="1400317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4C898F8D-4B08-4EC4-AC8E-77A3B704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REPRESENTAÇÃO DO AMBIENTE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D0F5C91-9E1D-4FE5-B443-13BAF3B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Como o percurso 3D vira entrada para o agente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7AC10B5-F81A-4953-A888-3A7CD81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racks-intro">
            <a:extLst xmlns:a="http://schemas.openxmlformats.org/drawingml/2006/main">
              <a:ext uri="{FF2B5EF4-FFF2-40B4-BE49-F238E27FC236}">
                <a16:creationId xmlns:a16="http://schemas.microsoft.com/office/drawing/2014/main" id="{D04CE9E3-5BF5-4644-9278-A1AFE92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637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A geometria é convertida uma vez; durante o treino, posição e velocidade continuam vindo do ambiente real.</a:t>
            </a:r>
          </a:p>
        </p:txBody>
      </p:sp>
      <p:sp>
        <p:nvSpPr>
          <p:cNvPr id="5" name="track-line">
            <a:extLst xmlns:a="http://schemas.openxmlformats.org/drawingml/2006/main">
              <a:ext uri="{FF2B5EF4-FFF2-40B4-BE49-F238E27FC236}">
                <a16:creationId xmlns:a16="http://schemas.microsoft.com/office/drawing/2014/main" id="{1E80ABE7-6F44-4361-BBE3-3714190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95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ck-dot-0">
            <a:extLst xmlns:a="http://schemas.openxmlformats.org/drawingml/2006/main">
              <a:ext uri="{FF2B5EF4-FFF2-40B4-BE49-F238E27FC236}">
                <a16:creationId xmlns:a16="http://schemas.microsoft.com/office/drawing/2014/main" id="{5435F4FD-F735-4C05-A24D-72A58EA5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ck-num-0">
            <a:extLst xmlns:a="http://schemas.openxmlformats.org/drawingml/2006/main">
              <a:ext uri="{FF2B5EF4-FFF2-40B4-BE49-F238E27FC236}">
                <a16:creationId xmlns:a16="http://schemas.microsoft.com/office/drawing/2014/main" id="{4AAFBC07-40AA-424D-8EB4-E4C864D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AAAF0697-638D-458D-AD0B-0543E22D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Ler o mundo</a:t>
            </a:r>
          </a:p>
        </p:txBody>
      </p:sp>
      <p:sp>
        <p:nvSpPr>
          <p:cNvPr id="9" name="track-body-0">
            <a:extLst xmlns:a="http://schemas.openxmlformats.org/drawingml/2006/main">
              <a:ext uri="{FF2B5EF4-FFF2-40B4-BE49-F238E27FC236}">
                <a16:creationId xmlns:a16="http://schemas.microsoft.com/office/drawing/2014/main" id="{0DE4B3AB-2239-4FD6-8D77-B6B6ECA4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1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Arquivos do mapa → blocos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e caixas de colisão</a:t>
            </a:r>
          </a:p>
        </p:txBody>
      </p:sp>
      <p:sp>
        <p:nvSpPr>
          <p:cNvPr id="10" name="track-dot-1">
            <a:extLst xmlns:a="http://schemas.openxmlformats.org/drawingml/2006/main">
              <a:ext uri="{FF2B5EF4-FFF2-40B4-BE49-F238E27FC236}">
                <a16:creationId xmlns:a16="http://schemas.microsoft.com/office/drawing/2014/main" id="{0FEBE701-98F2-4D67-A5C1-1A4F6C96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ck-num-1">
            <a:extLst xmlns:a="http://schemas.openxmlformats.org/drawingml/2006/main">
              <a:ext uri="{FF2B5EF4-FFF2-40B4-BE49-F238E27FC236}">
                <a16:creationId xmlns:a16="http://schemas.microsoft.com/office/drawing/2014/main" id="{1F63DEA5-E40C-43A8-AEAD-EF76C149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0C9718B2-9190-4E0C-8D64-177D0ADE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Normalizar</a:t>
            </a:r>
          </a:p>
        </p:txBody>
      </p:sp>
      <p:sp>
        <p:nvSpPr>
          <p:cNvPr id="13" name="track-body-1">
            <a:extLst xmlns:a="http://schemas.openxmlformats.org/drawingml/2006/main">
              <a:ext uri="{FF2B5EF4-FFF2-40B4-BE49-F238E27FC236}">
                <a16:creationId xmlns:a16="http://schemas.microsoft.com/office/drawing/2014/main" id="{F2958B03-ACE4-4057-AC8A-96F3DEC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1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Rotação + translação: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meta sempre em +progresso</a:t>
            </a:r>
          </a:p>
        </p:txBody>
      </p:sp>
      <p:sp>
        <p:nvSpPr>
          <p:cNvPr id="14" name="track-dot-2">
            <a:extLst xmlns:a="http://schemas.openxmlformats.org/drawingml/2006/main">
              <a:ext uri="{FF2B5EF4-FFF2-40B4-BE49-F238E27FC236}">
                <a16:creationId xmlns:a16="http://schemas.microsoft.com/office/drawing/2014/main" id="{E54C2332-A849-4CBF-B028-7659090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ck-num-2">
            <a:extLst xmlns:a="http://schemas.openxmlformats.org/drawingml/2006/main">
              <a:ext uri="{FF2B5EF4-FFF2-40B4-BE49-F238E27FC236}">
                <a16:creationId xmlns:a16="http://schemas.microsoft.com/office/drawing/2014/main" id="{06105FD5-E4E9-478C-8890-A64D03DA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0C04A879-2C4C-451D-9BC5-94FC227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Discretizar</a:t>
            </a:r>
          </a:p>
        </p:txBody>
      </p:sp>
      <p:sp>
        <p:nvSpPr>
          <p:cNvPr id="17" name="track-body-2">
            <a:extLst xmlns:a="http://schemas.openxmlformats.org/drawingml/2006/main">
              <a:ext uri="{FF2B5EF4-FFF2-40B4-BE49-F238E27FC236}">
                <a16:creationId xmlns:a16="http://schemas.microsoft.com/office/drawing/2014/main" id="{C278AD63-54A5-460C-B68E-ABCB386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4 células à frente →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índice de 0 a 3.455</a:t>
            </a:r>
          </a:p>
        </p:txBody>
      </p:sp>
      <p:sp>
        <p:nvSpPr>
          <p:cNvPr id="18" name="track-takeaway">
            <a:extLst xmlns:a="http://schemas.openxmlformats.org/drawingml/2006/main">
              <a:ext uri="{FF2B5EF4-FFF2-40B4-BE49-F238E27FC236}">
                <a16:creationId xmlns:a16="http://schemas.microsoft.com/office/drawing/2014/main" id="{95A1F9B2-9CF5-4CE7-98C5-D3938EB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algoritmo não recebe “blocos”: recebe um estado compacto com significado físico.</a:t>
            </a:r>
          </a:p>
        </p:txBody>
      </p:sp>
    </p:spTree>
    <p:extLst>
      <p:ext uri="{BB962C8B-B14F-4D97-AF65-F5344CB8AC3E}">
        <p14:creationId xmlns:p14="http://schemas.microsoft.com/office/powerpoint/2010/main" val="712842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2BC757A0-F2E2-4B5C-815F-D84FC1B8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3252BF4-0742-4B27-9F2E-9E5A4090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Estado, ações e recompensa definem o problema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762AED1-2055-4EC2-B51B-AC330664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model-arrow-1">
            <a:extLst xmlns:a="http://schemas.openxmlformats.org/drawingml/2006/main">
              <a:ext uri="{FF2B5EF4-FFF2-40B4-BE49-F238E27FC236}">
                <a16:creationId xmlns:a16="http://schemas.microsoft.com/office/drawing/2014/main" id="{DFD83B9F-14EE-4E41-AD3E-28FDCC9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99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del-arrowhead-1">
            <a:extLst xmlns:a="http://schemas.openxmlformats.org/drawingml/2006/main">
              <a:ext uri="{FF2B5EF4-FFF2-40B4-BE49-F238E27FC236}">
                <a16:creationId xmlns:a16="http://schemas.microsoft.com/office/drawing/2014/main" id="{9D184C38-9546-447E-93BA-E274A4CB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051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el-arrow-2">
            <a:extLst xmlns:a="http://schemas.openxmlformats.org/drawingml/2006/main">
              <a:ext uri="{FF2B5EF4-FFF2-40B4-BE49-F238E27FC236}">
                <a16:creationId xmlns:a16="http://schemas.microsoft.com/office/drawing/2014/main" id="{78D768CC-EBAE-4D24-A4A2-9C4F46F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99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del-arrowhead-2">
            <a:extLst xmlns:a="http://schemas.openxmlformats.org/drawingml/2006/main">
              <a:ext uri="{FF2B5EF4-FFF2-40B4-BE49-F238E27FC236}">
                <a16:creationId xmlns:a16="http://schemas.microsoft.com/office/drawing/2014/main" id="{7E27C113-CD8F-46A4-9136-7F9EE42D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panel-0">
            <a:extLst xmlns:a="http://schemas.openxmlformats.org/drawingml/2006/main">
              <a:ext uri="{FF2B5EF4-FFF2-40B4-BE49-F238E27FC236}">
                <a16:creationId xmlns:a16="http://schemas.microsoft.com/office/drawing/2014/main" id="{6FDE9637-9CB8-4A22-AD96-96C7B220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del-title-0">
            <a:extLst xmlns:a="http://schemas.openxmlformats.org/drawingml/2006/main">
              <a:ext uri="{FF2B5EF4-FFF2-40B4-BE49-F238E27FC236}">
                <a16:creationId xmlns:a16="http://schemas.microsoft.com/office/drawing/2014/main" id="{75C105FC-9324-4B47-B84F-C07EA057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0" name="model-big-0">
            <a:extLst xmlns:a="http://schemas.openxmlformats.org/drawingml/2006/main">
              <a:ext uri="{FF2B5EF4-FFF2-40B4-BE49-F238E27FC236}">
                <a16:creationId xmlns:a16="http://schemas.microsoft.com/office/drawing/2014/main" id="{9252FBB0-AD37-422D-B64B-AB2F6EE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3.456</a:t>
            </a:r>
          </a:p>
        </p:txBody>
      </p:sp>
      <p:sp>
        <p:nvSpPr>
          <p:cNvPr id="11" name="model-unit-0">
            <a:extLst xmlns:a="http://schemas.openxmlformats.org/drawingml/2006/main">
              <a:ext uri="{FF2B5EF4-FFF2-40B4-BE49-F238E27FC236}">
                <a16:creationId xmlns:a16="http://schemas.microsoft.com/office/drawing/2014/main" id="{24898C69-6370-4201-862F-48BAFE7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situações</a:t>
            </a:r>
          </a:p>
        </p:txBody>
      </p:sp>
      <p:sp>
        <p:nvSpPr>
          <p:cNvPr id="12" name="model-body-0">
            <a:extLst xmlns:a="http://schemas.openxmlformats.org/drawingml/2006/main">
              <a:ext uri="{FF2B5EF4-FFF2-40B4-BE49-F238E27FC236}">
                <a16:creationId xmlns:a16="http://schemas.microsoft.com/office/drawing/2014/main" id="{938CB198-FA08-4A4A-B81A-651DC57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Piso nas 4 células seguintes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Altura do apoio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Fase do salto e velocidade</a:t>
            </a:r>
          </a:p>
        </p:txBody>
      </p:sp>
      <p:sp>
        <p:nvSpPr>
          <p:cNvPr id="13" name="model-panel-1">
            <a:extLst xmlns:a="http://schemas.openxmlformats.org/drawingml/2006/main">
              <a:ext uri="{FF2B5EF4-FFF2-40B4-BE49-F238E27FC236}">
                <a16:creationId xmlns:a16="http://schemas.microsoft.com/office/drawing/2014/main" id="{38003602-7267-49B4-B6C6-8B254DD0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title-1">
            <a:extLst xmlns:a="http://schemas.openxmlformats.org/drawingml/2006/main">
              <a:ext uri="{FF2B5EF4-FFF2-40B4-BE49-F238E27FC236}">
                <a16:creationId xmlns:a16="http://schemas.microsoft.com/office/drawing/2014/main" id="{E59A1BEC-241E-4051-9D33-9924BF06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15" name="model-big-1">
            <a:extLst xmlns:a="http://schemas.openxmlformats.org/drawingml/2006/main">
              <a:ext uri="{FF2B5EF4-FFF2-40B4-BE49-F238E27FC236}">
                <a16:creationId xmlns:a16="http://schemas.microsoft.com/office/drawing/2014/main" id="{2FF40FBF-3611-423A-8456-DC10818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model-unit-1">
            <a:extLst xmlns:a="http://schemas.openxmlformats.org/drawingml/2006/main">
              <a:ext uri="{FF2B5EF4-FFF2-40B4-BE49-F238E27FC236}">
                <a16:creationId xmlns:a16="http://schemas.microsoft.com/office/drawing/2014/main" id="{065A3BDB-5FAC-449C-B3D4-AF5B556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17" name="model-body-1">
            <a:extLst xmlns:a="http://schemas.openxmlformats.org/drawingml/2006/main">
              <a:ext uri="{FF2B5EF4-FFF2-40B4-BE49-F238E27FC236}">
                <a16:creationId xmlns:a16="http://schemas.microsoft.com/office/drawing/2014/main" id="{988BE572-67AD-4F37-B5FC-61E3756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Andar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Correr + pular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Andar + pular</a:t>
            </a:r>
          </a:p>
        </p:txBody>
      </p:sp>
      <p:sp>
        <p:nvSpPr>
          <p:cNvPr id="18" name="model-panel-2">
            <a:extLst xmlns:a="http://schemas.openxmlformats.org/drawingml/2006/main">
              <a:ext uri="{FF2B5EF4-FFF2-40B4-BE49-F238E27FC236}">
                <a16:creationId xmlns:a16="http://schemas.microsoft.com/office/drawing/2014/main" id="{94205885-3975-4C24-9A1C-6790D47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title-2">
            <a:extLst xmlns:a="http://schemas.openxmlformats.org/drawingml/2006/main">
              <a:ext uri="{FF2B5EF4-FFF2-40B4-BE49-F238E27FC236}">
                <a16:creationId xmlns:a16="http://schemas.microsoft.com/office/drawing/2014/main" id="{1DCC1D85-F9CA-4499-A490-05F0C722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20" name="model-big-2">
            <a:extLst xmlns:a="http://schemas.openxmlformats.org/drawingml/2006/main">
              <a:ext uri="{FF2B5EF4-FFF2-40B4-BE49-F238E27FC236}">
                <a16:creationId xmlns:a16="http://schemas.microsoft.com/office/drawing/2014/main" id="{3AC64F92-D132-4756-99DD-C4AF232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+20</a:t>
            </a:r>
          </a:p>
        </p:txBody>
      </p:sp>
      <p:sp>
        <p:nvSpPr>
          <p:cNvPr id="21" name="model-unit-2">
            <a:extLst xmlns:a="http://schemas.openxmlformats.org/drawingml/2006/main">
              <a:ext uri="{FF2B5EF4-FFF2-40B4-BE49-F238E27FC236}">
                <a16:creationId xmlns:a16="http://schemas.microsoft.com/office/drawing/2014/main" id="{A0359FFF-63E5-43D1-B708-DE6BAD45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ao chegar</a:t>
            </a:r>
          </a:p>
        </p:txBody>
      </p:sp>
      <p:sp>
        <p:nvSpPr>
          <p:cNvPr id="22" name="model-body-2">
            <a:extLst xmlns:a="http://schemas.openxmlformats.org/drawingml/2006/main">
              <a:ext uri="{FF2B5EF4-FFF2-40B4-BE49-F238E27FC236}">
                <a16:creationId xmlns:a16="http://schemas.microsoft.com/office/drawing/2014/main" id="{838E9814-4E78-49CF-92A9-48A6082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+1 × avanço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−0,02 por decisão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−10 por queda ou trava</a:t>
            </a:r>
          </a:p>
        </p:txBody>
      </p:sp>
    </p:spTree>
    <p:extLst>
      <p:ext uri="{BB962C8B-B14F-4D97-AF65-F5344CB8AC3E}">
        <p14:creationId xmlns:p14="http://schemas.microsoft.com/office/powerpoint/2010/main" val="1642121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5">
            <a:extLst xmlns:a="http://schemas.openxmlformats.org/drawingml/2006/main">
              <a:ext uri="{FF2B5EF4-FFF2-40B4-BE49-F238E27FC236}">
                <a16:creationId xmlns:a16="http://schemas.microsoft.com/office/drawing/2014/main" id="{29040115-1614-4C51-88E4-81C4B338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ALGORITMO E PARÂMETROS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F4668E8-1D2D-4FDE-95AA-729F3FC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tabela Q melhora a ação a cada experiência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D26327A-0ADD-4E1A-BCF3-A785FF8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bellman-panel">
            <a:extLst xmlns:a="http://schemas.openxmlformats.org/drawingml/2006/main">
              <a:ext uri="{FF2B5EF4-FFF2-40B4-BE49-F238E27FC236}">
                <a16:creationId xmlns:a16="http://schemas.microsoft.com/office/drawing/2014/main" id="{40FF6E5C-C267-4953-A600-4CF7C10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3911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llman-label">
            <a:extLst xmlns:a="http://schemas.openxmlformats.org/drawingml/2006/main">
              <a:ext uri="{FF2B5EF4-FFF2-40B4-BE49-F238E27FC236}">
                <a16:creationId xmlns:a16="http://schemas.microsoft.com/office/drawing/2014/main" id="{7028D4D9-B5BF-439D-8546-00F06BE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ATUALIZAÇÃO DE BELLMAN</a:t>
            </a:r>
          </a:p>
        </p:txBody>
      </p:sp>
      <p:sp>
        <p:nvSpPr>
          <p:cNvPr id="6" name="bellman-equation">
            <a:extLst xmlns:a="http://schemas.openxmlformats.org/drawingml/2006/main">
              <a:ext uri="{FF2B5EF4-FFF2-40B4-BE49-F238E27FC236}">
                <a16:creationId xmlns:a16="http://schemas.microsoft.com/office/drawing/2014/main" id="{97660FF1-D82B-4F63-BCEA-63BA60C9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Q(s,a) ← Q(s,a) + α ·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[r + γ · max Q(s′,a′) − Q(s,a)]</a:t>
            </a:r>
          </a:p>
        </p:txBody>
      </p:sp>
      <p:sp>
        <p:nvSpPr>
          <p:cNvPr id="7" name="bellman-params">
            <a:extLst xmlns:a="http://schemas.openxmlformats.org/drawingml/2006/main">
              <a:ext uri="{FF2B5EF4-FFF2-40B4-BE49-F238E27FC236}">
                <a16:creationId xmlns:a16="http://schemas.microsoft.com/office/drawing/2014/main" id="{F8588D59-AF18-4417-90FA-D7378FD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472"/>
                </a:solidFill>
                <a:latin typeface="Arial"/>
                <a:ea typeface="Arial"/>
                <a:cs typeface="Arial"/>
              </a:rPr>
              <a:t>α = 0,20     γ = 0,97</a:t>
            </a:r>
          </a:p>
        </p:txBody>
      </p:sp>
      <p:sp>
        <p:nvSpPr>
          <p:cNvPr id="8" name="epsilon-title">
            <a:extLst xmlns:a="http://schemas.openxmlformats.org/drawingml/2006/main">
              <a:ext uri="{FF2B5EF4-FFF2-40B4-BE49-F238E27FC236}">
                <a16:creationId xmlns:a16="http://schemas.microsoft.com/office/drawing/2014/main" id="{5D1A16A4-49D1-4D96-9389-0FA2997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Parâmetros usados</a:t>
            </a:r>
          </a:p>
        </p:txBody>
      </p:sp>
      <p:sp>
        <p:nvSpPr>
          <p:cNvPr id="9" name="epsilon-big">
            <a:extLst xmlns:a="http://schemas.openxmlformats.org/drawingml/2006/main">
              <a:ext uri="{FF2B5EF4-FFF2-40B4-BE49-F238E27FC236}">
                <a16:creationId xmlns:a16="http://schemas.microsoft.com/office/drawing/2014/main" id="{63AFDEAE-4E44-4E8A-959A-18C59A6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ε: 1,00 → 0,05</a:t>
            </a:r>
          </a:p>
        </p:txBody>
      </p:sp>
      <p:sp>
        <p:nvSpPr>
          <p:cNvPr id="10" name="epsilon-bullets">
            <a:extLst xmlns:a="http://schemas.openxmlformats.org/drawingml/2006/main">
              <a:ext uri="{FF2B5EF4-FFF2-40B4-BE49-F238E27FC236}">
                <a16:creationId xmlns:a16="http://schemas.microsoft.com/office/drawing/2014/main" id="{E5FF56E8-39F5-45D0-B278-FDB9969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α = 0,20  ·  taxa de aprendizado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γ = 0,97  ·  desconto do futuro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ε ← max(0,05; ε × 0,9995) após cada episódio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ε = 0 durante a avaliação da política</a:t>
            </a:r>
          </a:p>
        </p:txBody>
      </p:sp>
    </p:spTree>
    <p:extLst>
      <p:ext uri="{BB962C8B-B14F-4D97-AF65-F5344CB8AC3E}">
        <p14:creationId xmlns:p14="http://schemas.microsoft.com/office/powerpoint/2010/main" val="862364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6">
            <a:extLst xmlns:a="http://schemas.openxmlformats.org/drawingml/2006/main">
              <a:ext uri="{FF2B5EF4-FFF2-40B4-BE49-F238E27FC236}">
                <a16:creationId xmlns:a16="http://schemas.microsoft.com/office/drawing/2014/main" id="{0512A585-36DF-47B4-95CB-50CB054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FLUXO DE APRENDIZAGEM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0D2BF9F-22DB-4E4E-A14C-8A3F073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episódio repete o ciclo do Q-Learning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9821C14-A75C-4BB6-B5A8-BC23C3D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ycle-link-0">
            <a:extLst xmlns:a="http://schemas.openxmlformats.org/drawingml/2006/main">
              <a:ext uri="{FF2B5EF4-FFF2-40B4-BE49-F238E27FC236}">
                <a16:creationId xmlns:a16="http://schemas.microsoft.com/office/drawing/2014/main" id="{B26D2475-56C4-4E51-B61C-285F7AC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ycle-head-0">
            <a:extLst xmlns:a="http://schemas.openxmlformats.org/drawingml/2006/main">
              <a:ext uri="{FF2B5EF4-FFF2-40B4-BE49-F238E27FC236}">
                <a16:creationId xmlns:a16="http://schemas.microsoft.com/office/drawing/2014/main" id="{5B03FE71-EE1E-4BCA-914A-35C0DED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ycle-link-1">
            <a:extLst xmlns:a="http://schemas.openxmlformats.org/drawingml/2006/main">
              <a:ext uri="{FF2B5EF4-FFF2-40B4-BE49-F238E27FC236}">
                <a16:creationId xmlns:a16="http://schemas.microsoft.com/office/drawing/2014/main" id="{2C597768-05C4-446A-9D27-7204843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ycle-head-1">
            <a:extLst xmlns:a="http://schemas.openxmlformats.org/drawingml/2006/main">
              <a:ext uri="{FF2B5EF4-FFF2-40B4-BE49-F238E27FC236}">
                <a16:creationId xmlns:a16="http://schemas.microsoft.com/office/drawing/2014/main" id="{2A334FB8-209B-4F36-BFFB-1339072D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ycle-link-2">
            <a:extLst xmlns:a="http://schemas.openxmlformats.org/drawingml/2006/main">
              <a:ext uri="{FF2B5EF4-FFF2-40B4-BE49-F238E27FC236}">
                <a16:creationId xmlns:a16="http://schemas.microsoft.com/office/drawing/2014/main" id="{A87F7EB4-A3F6-4FA1-9823-689FAFC5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ycle-head-2">
            <a:extLst xmlns:a="http://schemas.openxmlformats.org/drawingml/2006/main">
              <a:ext uri="{FF2B5EF4-FFF2-40B4-BE49-F238E27FC236}">
                <a16:creationId xmlns:a16="http://schemas.microsoft.com/office/drawing/2014/main" id="{7A5F46D5-D11F-40F4-8134-F9C6230D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ycle-link-3">
            <a:extLst xmlns:a="http://schemas.openxmlformats.org/drawingml/2006/main">
              <a:ext uri="{FF2B5EF4-FFF2-40B4-BE49-F238E27FC236}">
                <a16:creationId xmlns:a16="http://schemas.microsoft.com/office/drawing/2014/main" id="{AEB0911A-E7AD-4EF9-BB10-42083662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ycle-head-3">
            <a:extLst xmlns:a="http://schemas.openxmlformats.org/drawingml/2006/main">
              <a:ext uri="{FF2B5EF4-FFF2-40B4-BE49-F238E27FC236}">
                <a16:creationId xmlns:a16="http://schemas.microsoft.com/office/drawing/2014/main" id="{00D57CC6-6976-45EB-B145-49565783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ycle-node-0">
            <a:extLst xmlns:a="http://schemas.openxmlformats.org/drawingml/2006/main">
              <a:ext uri="{FF2B5EF4-FFF2-40B4-BE49-F238E27FC236}">
                <a16:creationId xmlns:a16="http://schemas.microsoft.com/office/drawing/2014/main" id="{B09895E7-B7F6-4FD9-B08C-4EE5115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ycle-n-0">
            <a:extLst xmlns:a="http://schemas.openxmlformats.org/drawingml/2006/main">
              <a:ext uri="{FF2B5EF4-FFF2-40B4-BE49-F238E27FC236}">
                <a16:creationId xmlns:a16="http://schemas.microsoft.com/office/drawing/2014/main" id="{93F0B36E-E482-486A-90EE-9FCC16E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cycle-title-0">
            <a:extLst xmlns:a="http://schemas.openxmlformats.org/drawingml/2006/main">
              <a:ext uri="{FF2B5EF4-FFF2-40B4-BE49-F238E27FC236}">
                <a16:creationId xmlns:a16="http://schemas.microsoft.com/office/drawing/2014/main" id="{3F9124B7-375C-44A7-BDD3-97CCE31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Observar s</a:t>
            </a:r>
          </a:p>
        </p:txBody>
      </p:sp>
      <p:sp>
        <p:nvSpPr>
          <p:cNvPr id="15" name="cycle-body-0">
            <a:extLst xmlns:a="http://schemas.openxmlformats.org/drawingml/2006/main">
              <a:ext uri="{FF2B5EF4-FFF2-40B4-BE49-F238E27FC236}">
                <a16:creationId xmlns:a16="http://schemas.microsoft.com/office/drawing/2014/main" id="{96C56A5C-EE35-45ED-BB1D-EC9B1F2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posição, apoio e velocidade</a:t>
            </a:r>
          </a:p>
        </p:txBody>
      </p:sp>
      <p:sp>
        <p:nvSpPr>
          <p:cNvPr id="16" name="cycle-node-1">
            <a:extLst xmlns:a="http://schemas.openxmlformats.org/drawingml/2006/main">
              <a:ext uri="{FF2B5EF4-FFF2-40B4-BE49-F238E27FC236}">
                <a16:creationId xmlns:a16="http://schemas.microsoft.com/office/drawing/2014/main" id="{C1C78385-A554-4BDB-87DA-23220BD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n-1">
            <a:extLst xmlns:a="http://schemas.openxmlformats.org/drawingml/2006/main">
              <a:ext uri="{FF2B5EF4-FFF2-40B4-BE49-F238E27FC236}">
                <a16:creationId xmlns:a16="http://schemas.microsoft.com/office/drawing/2014/main" id="{E708BA5F-BF2F-4E9D-AB3E-EAAC0F7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cycle-title-1">
            <a:extLst xmlns:a="http://schemas.openxmlformats.org/drawingml/2006/main">
              <a:ext uri="{FF2B5EF4-FFF2-40B4-BE49-F238E27FC236}">
                <a16:creationId xmlns:a16="http://schemas.microsoft.com/office/drawing/2014/main" id="{35DECF94-5248-459D-9423-F95E3BC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Escolher a</a:t>
            </a:r>
          </a:p>
        </p:txBody>
      </p:sp>
      <p:sp>
        <p:nvSpPr>
          <p:cNvPr id="19" name="cycle-body-1">
            <a:extLst xmlns:a="http://schemas.openxmlformats.org/drawingml/2006/main">
              <a:ext uri="{FF2B5EF4-FFF2-40B4-BE49-F238E27FC236}">
                <a16:creationId xmlns:a16="http://schemas.microsoft.com/office/drawing/2014/main" id="{9F276F07-EF67-4084-A270-94D09CCF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política epsilon-greedy</a:t>
            </a:r>
          </a:p>
        </p:txBody>
      </p:sp>
      <p:sp>
        <p:nvSpPr>
          <p:cNvPr id="20" name="cycle-node-2">
            <a:extLst xmlns:a="http://schemas.openxmlformats.org/drawingml/2006/main">
              <a:ext uri="{FF2B5EF4-FFF2-40B4-BE49-F238E27FC236}">
                <a16:creationId xmlns:a16="http://schemas.microsoft.com/office/drawing/2014/main" id="{A4507E1C-BABD-48C4-A02C-27632EF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ycle-n-2">
            <a:extLst xmlns:a="http://schemas.openxmlformats.org/drawingml/2006/main">
              <a:ext uri="{FF2B5EF4-FFF2-40B4-BE49-F238E27FC236}">
                <a16:creationId xmlns:a16="http://schemas.microsoft.com/office/drawing/2014/main" id="{DD37AE79-213F-4C74-BB76-88B6C89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cycle-title-2">
            <a:extLst xmlns:a="http://schemas.openxmlformats.org/drawingml/2006/main">
              <a:ext uri="{FF2B5EF4-FFF2-40B4-BE49-F238E27FC236}">
                <a16:creationId xmlns:a16="http://schemas.microsoft.com/office/drawing/2014/main" id="{66B97275-547A-4B76-A5CA-3718A990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23" name="cycle-body-2">
            <a:extLst xmlns:a="http://schemas.openxmlformats.org/drawingml/2006/main">
              <a:ext uri="{FF2B5EF4-FFF2-40B4-BE49-F238E27FC236}">
                <a16:creationId xmlns:a16="http://schemas.microsoft.com/office/drawing/2014/main" id="{B619A137-9803-4BB9-A36B-2857CFC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ação por 4 ticks</a:t>
            </a:r>
          </a:p>
        </p:txBody>
      </p:sp>
      <p:sp>
        <p:nvSpPr>
          <p:cNvPr id="24" name="cycle-node-3">
            <a:extLst xmlns:a="http://schemas.openxmlformats.org/drawingml/2006/main">
              <a:ext uri="{FF2B5EF4-FFF2-40B4-BE49-F238E27FC236}">
                <a16:creationId xmlns:a16="http://schemas.microsoft.com/office/drawing/2014/main" id="{1FBAF5CF-28C8-46F9-8D30-1CBC3E3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ycle-n-3">
            <a:extLst xmlns:a="http://schemas.openxmlformats.org/drawingml/2006/main">
              <a:ext uri="{FF2B5EF4-FFF2-40B4-BE49-F238E27FC236}">
                <a16:creationId xmlns:a16="http://schemas.microsoft.com/office/drawing/2014/main" id="{EF7E57AE-E251-4E17-9C7D-22F7ADA8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cycle-title-3">
            <a:extLst xmlns:a="http://schemas.openxmlformats.org/drawingml/2006/main">
              <a:ext uri="{FF2B5EF4-FFF2-40B4-BE49-F238E27FC236}">
                <a16:creationId xmlns:a16="http://schemas.microsoft.com/office/drawing/2014/main" id="{CF02CA7E-00F7-48B8-97FE-3C3EFBE2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Receber</a:t>
            </a:r>
          </a:p>
        </p:txBody>
      </p:sp>
      <p:sp>
        <p:nvSpPr>
          <p:cNvPr id="27" name="cycle-body-3">
            <a:extLst xmlns:a="http://schemas.openxmlformats.org/drawingml/2006/main">
              <a:ext uri="{FF2B5EF4-FFF2-40B4-BE49-F238E27FC236}">
                <a16:creationId xmlns:a16="http://schemas.microsoft.com/office/drawing/2014/main" id="{A6549B3A-09E1-47D3-AE10-C4CB7A0D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recompensa r e estado s′</a:t>
            </a:r>
          </a:p>
        </p:txBody>
      </p:sp>
      <p:sp>
        <p:nvSpPr>
          <p:cNvPr id="28" name="cycle-node-4">
            <a:extLst xmlns:a="http://schemas.openxmlformats.org/drawingml/2006/main">
              <a:ext uri="{FF2B5EF4-FFF2-40B4-BE49-F238E27FC236}">
                <a16:creationId xmlns:a16="http://schemas.microsoft.com/office/drawing/2014/main" id="{942E7120-319A-4E99-B354-C5E4C1FB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ycle-n-4">
            <a:extLst xmlns:a="http://schemas.openxmlformats.org/drawingml/2006/main">
              <a:ext uri="{FF2B5EF4-FFF2-40B4-BE49-F238E27FC236}">
                <a16:creationId xmlns:a16="http://schemas.microsoft.com/office/drawing/2014/main" id="{FF5710F2-F992-4F2A-AFEC-05B60D1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cycle-title-4">
            <a:extLst xmlns:a="http://schemas.openxmlformats.org/drawingml/2006/main">
              <a:ext uri="{FF2B5EF4-FFF2-40B4-BE49-F238E27FC236}">
                <a16:creationId xmlns:a16="http://schemas.microsoft.com/office/drawing/2014/main" id="{EBB60C99-BF73-4B6D-AAC8-252A645E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Atualizar Q</a:t>
            </a:r>
          </a:p>
        </p:txBody>
      </p:sp>
      <p:sp>
        <p:nvSpPr>
          <p:cNvPr id="31" name="cycle-body-4">
            <a:extLst xmlns:a="http://schemas.openxmlformats.org/drawingml/2006/main">
              <a:ext uri="{FF2B5EF4-FFF2-40B4-BE49-F238E27FC236}">
                <a16:creationId xmlns:a16="http://schemas.microsoft.com/office/drawing/2014/main" id="{89F8BDB9-C738-4D8A-9719-2F2E6640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equação de Bellman</a:t>
            </a:r>
          </a:p>
        </p:txBody>
      </p:sp>
      <p:sp>
        <p:nvSpPr>
          <p:cNvPr id="32" name="cycle-footer">
            <a:extLst xmlns:a="http://schemas.openxmlformats.org/drawingml/2006/main">
              <a:ext uri="{FF2B5EF4-FFF2-40B4-BE49-F238E27FC236}">
                <a16:creationId xmlns:a16="http://schemas.microsoft.com/office/drawing/2014/main" id="{DD90CCB0-16E4-4A4E-BC83-05F70153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Meta, queda, travamento ou 80 decisões encerram o episódio; então ε diminui.</a:t>
            </a:r>
          </a:p>
        </p:txBody>
      </p:sp>
    </p:spTree>
    <p:extLst>
      <p:ext uri="{BB962C8B-B14F-4D97-AF65-F5344CB8AC3E}">
        <p14:creationId xmlns:p14="http://schemas.microsoft.com/office/powerpoint/2010/main" val="82175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7">
            <a:extLst xmlns:a="http://schemas.openxmlformats.org/drawingml/2006/main">
              <a:ext uri="{FF2B5EF4-FFF2-40B4-BE49-F238E27FC236}">
                <a16:creationId xmlns:a16="http://schemas.microsoft.com/office/drawing/2014/main" id="{85373324-B0F8-417D-A2D5-43D19F96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44DDD34-1748-413E-B4BE-940441B8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implementação separa algoritmo e ambiente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7C797B2-008C-4628-B516-F58169C4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impl-title">
            <a:extLst xmlns:a="http://schemas.openxmlformats.org/drawingml/2006/main">
              <a:ext uri="{FF2B5EF4-FFF2-40B4-BE49-F238E27FC236}">
                <a16:creationId xmlns:a16="http://schemas.microsoft.com/office/drawing/2014/main" id="{DB13A435-2E66-4B3E-8CA5-5966795C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Núcleo do aprendizado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74D0BE75-1817-4888-B8E5-320F65F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53340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ext">
            <a:extLst xmlns:a="http://schemas.openxmlformats.org/drawingml/2006/main">
              <a:ext uri="{FF2B5EF4-FFF2-40B4-BE49-F238E27FC236}">
                <a16:creationId xmlns:a16="http://schemas.microsoft.com/office/drawing/2014/main" id="{E7E1A030-231E-4EF5-A63D-BE5E714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alvo = recompensa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not terminou: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alvo += gama * melhor_futuro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erro = alvo - valor_atual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Q[estado][acao] += alfa * erro</a:t>
            </a:r>
          </a:p>
        </p:txBody>
      </p:sp>
      <p:sp>
        <p:nvSpPr>
          <p:cNvPr id="7" name="layers-title">
            <a:extLst xmlns:a="http://schemas.openxmlformats.org/drawingml/2006/main">
              <a:ext uri="{FF2B5EF4-FFF2-40B4-BE49-F238E27FC236}">
                <a16:creationId xmlns:a16="http://schemas.microsoft.com/office/drawing/2014/main" id="{93CDCCFF-93C4-40DD-97CA-42DA34BC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Módulos ligados aos conceitos</a:t>
            </a:r>
          </a:p>
        </p:txBody>
      </p:sp>
      <p:sp>
        <p:nvSpPr>
          <p:cNvPr id="8" name="layers-bullets">
            <a:extLst xmlns:a="http://schemas.openxmlformats.org/drawingml/2006/main">
              <a:ext uri="{FF2B5EF4-FFF2-40B4-BE49-F238E27FC236}">
                <a16:creationId xmlns:a16="http://schemas.microsoft.com/office/drawing/2014/main" id="{D2F7A504-9F48-4C28-AD0F-63DE904D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762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q_learning.py: política epsilon-greedy e Bellman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estado.py: estado contínuo → índice discreto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recompensa.py: objetivo e penalidades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treinar.py: interação (s, a, r, s′) por episódio</a:t>
            </a:r>
          </a:p>
        </p:txBody>
      </p:sp>
    </p:spTree>
    <p:extLst>
      <p:ext uri="{BB962C8B-B14F-4D97-AF65-F5344CB8AC3E}">
        <p14:creationId xmlns:p14="http://schemas.microsoft.com/office/powerpoint/2010/main" val="1535406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8">
            <a:extLst xmlns:a="http://schemas.openxmlformats.org/drawingml/2006/main">
              <a:ext uri="{FF2B5EF4-FFF2-40B4-BE49-F238E27FC236}">
                <a16:creationId xmlns:a16="http://schemas.microsoft.com/office/drawing/2014/main" id="{538BF9DD-B442-4FD1-BE1E-A348A2D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MODELAGEM DO OBJETIVO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85E8CCD-6DC3-455A-8F64-DD50C82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Recompensa define o comportamento desejado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2AEC576-2C64-4BBC-A43D-8ECF368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parallel-equation">
            <a:extLst xmlns:a="http://schemas.openxmlformats.org/drawingml/2006/main">
              <a:ext uri="{FF2B5EF4-FFF2-40B4-BE49-F238E27FC236}">
                <a16:creationId xmlns:a16="http://schemas.microsoft.com/office/drawing/2014/main" id="{92D15054-327B-4BFE-9920-91DD7C3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Δprogresso − 0,02</a:t>
            </a:r>
          </a:p>
        </p:txBody>
      </p:sp>
      <p:sp>
        <p:nvSpPr>
          <p:cNvPr id="5" name="parallel-example">
            <a:extLst xmlns:a="http://schemas.openxmlformats.org/drawingml/2006/main">
              <a:ext uri="{FF2B5EF4-FFF2-40B4-BE49-F238E27FC236}">
                <a16:creationId xmlns:a16="http://schemas.microsoft.com/office/drawing/2014/main" id="{E33CB9F3-BC4B-4D4F-ACD3-1E02986C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+20 meta   ·   −10 queda/trava</a:t>
            </a:r>
          </a:p>
        </p:txBody>
      </p:sp>
      <p:sp>
        <p:nvSpPr>
          <p:cNvPr id="6" name="parallel-divider">
            <a:extLst xmlns:a="http://schemas.openxmlformats.org/drawingml/2006/main">
              <a:ext uri="{FF2B5EF4-FFF2-40B4-BE49-F238E27FC236}">
                <a16:creationId xmlns:a16="http://schemas.microsoft.com/office/drawing/2014/main" id="{5D97E797-696F-47A6-9209-1639E19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D6C5EDC4-D0A3-4B5E-901A-9F464A92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que o sinal ensina</a:t>
            </a:r>
          </a:p>
        </p:txBody>
      </p:sp>
      <p:sp>
        <p:nvSpPr>
          <p:cNvPr id="8" name="parallel-bullets">
            <a:extLst xmlns:a="http://schemas.openxmlformats.org/drawingml/2006/main">
              <a:ext uri="{FF2B5EF4-FFF2-40B4-BE49-F238E27FC236}">
                <a16:creationId xmlns:a16="http://schemas.microsoft.com/office/drawing/2014/main" id="{C5329563-126A-4642-99B0-49C28AF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6291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avançar e pousar: reforço positivo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demorar: custo em cada decisão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ficar parado: penalidade extra de −0,05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queda, travamento e meta: sinais terminais</a:t>
            </a:r>
          </a:p>
        </p:txBody>
      </p:sp>
      <p:sp>
        <p:nvSpPr>
          <p:cNvPr id="9" name="parallel-callout">
            <a:extLst xmlns:a="http://schemas.openxmlformats.org/drawingml/2006/main">
              <a:ext uri="{FF2B5EF4-FFF2-40B4-BE49-F238E27FC236}">
                <a16:creationId xmlns:a16="http://schemas.microsoft.com/office/drawing/2014/main" id="{B0C3A3B2-3081-4EBF-9ED0-49C8C9E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181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allel-callout-text">
            <a:extLst xmlns:a="http://schemas.openxmlformats.org/drawingml/2006/main">
              <a:ext uri="{FF2B5EF4-FFF2-40B4-BE49-F238E27FC236}">
                <a16:creationId xmlns:a16="http://schemas.microsoft.com/office/drawing/2014/main" id="{914DCAAC-42A2-403D-9D74-843CA93A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5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Progresso líquido impede acumular recompensa oscilando no mesmo lugar.</a:t>
            </a:r>
          </a:p>
        </p:txBody>
      </p:sp>
    </p:spTree>
    <p:extLst>
      <p:ext uri="{BB962C8B-B14F-4D97-AF65-F5344CB8AC3E}">
        <p14:creationId xmlns:p14="http://schemas.microsoft.com/office/powerpoint/2010/main" val="1447921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9">
            <a:extLst xmlns:a="http://schemas.openxmlformats.org/drawingml/2006/main">
              <a:ext uri="{FF2B5EF4-FFF2-40B4-BE49-F238E27FC236}">
                <a16:creationId xmlns:a16="http://schemas.microsoft.com/office/drawing/2014/main" id="{06974560-03E4-4706-A049-52E7F873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42926A2-DFCA-48DB-B557-EFBE46CE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treino salvo mostra evolução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6B2FA7A9-E55A-4437-BCF0-E464173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sults-qualifier">
            <a:extLst xmlns:a="http://schemas.openxmlformats.org/drawingml/2006/main">
              <a:ext uri="{FF2B5EF4-FFF2-40B4-BE49-F238E27FC236}">
                <a16:creationId xmlns:a16="http://schemas.microsoft.com/office/drawing/2014/main" id="{C6E59CC8-A2E1-4E0A-89A1-EDE0AAA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Execução no frente_1: 70 bots × 50 rodadas = 3.500 episódios, todos registrados com ε = 0,05.</a:t>
            </a:r>
          </a:p>
        </p:txBody>
      </p:sp>
      <p:sp>
        <p:nvSpPr>
          <p:cNvPr id="5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D25317EA-662B-44F9-9147-6813BA3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051C443B-982B-47D8-A00F-36F93F6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3.500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84BB616-A04C-4DBE-8A12-B1FD5EB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episódios registrados</a:t>
            </a:r>
          </a:p>
        </p:txBody>
      </p:sp>
      <p:sp>
        <p:nvSpPr>
          <p:cNvPr id="8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95C408D4-3513-4572-8DCE-0A7420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O arquivo contém somente a execução mais recente.</a:t>
            </a:r>
          </a:p>
        </p:txBody>
      </p:sp>
      <p:sp>
        <p:nvSpPr>
          <p:cNvPr id="9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B3EE3DC2-1815-4D87-83E4-483019DD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D0564867-975A-450A-9C8A-4C8722E2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7,20%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A37A3F7-6DF2-4847-AFAA-F4DD31FE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chegadas no treino</a:t>
            </a:r>
          </a:p>
        </p:txBody>
      </p:sp>
      <p:sp>
        <p:nvSpPr>
          <p:cNvPr id="12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2CECD97D-2C1B-4FFD-B2A8-51FDC5A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252 episódios terminaram na meta, ainda sob exploração.</a:t>
            </a:r>
          </a:p>
        </p:txBody>
      </p:sp>
      <p:sp>
        <p:nvSpPr>
          <p:cNvPr id="13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A1191C51-00FA-4D45-8BE2-76708EF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35353B68-0C5D-4424-9D89-619A0CBB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10,4%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875DC942-3E9F-466A-AD06-468697C3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nos últimos 1.000</a:t>
            </a:r>
          </a:p>
        </p:txBody>
      </p:sp>
      <p:sp>
        <p:nvSpPr>
          <p:cNvPr id="16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176981D5-7007-4C60-B0D5-D0199BD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Nos primeiros 1.000 registros, a taxa era 6,00%.</a:t>
            </a:r>
          </a:p>
        </p:txBody>
      </p:sp>
    </p:spTree>
    <p:extLst>
      <p:ext uri="{BB962C8B-B14F-4D97-AF65-F5344CB8AC3E}">
        <p14:creationId xmlns:p14="http://schemas.microsoft.com/office/powerpoint/2010/main" val="1145814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0">
            <a:extLst xmlns:a="http://schemas.openxmlformats.org/drawingml/2006/main">
              <a:ext uri="{FF2B5EF4-FFF2-40B4-BE49-F238E27FC236}">
                <a16:creationId xmlns:a16="http://schemas.microsoft.com/office/drawing/2014/main" id="{15A4CC19-9C55-4576-A65D-C166D7FE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AVALIAÇÃO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C751087-215E-48E4-99DF-B4FCE22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modelo foi treinado; falta avaliar a política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444C6F0-C34F-4AE5-AA80-2B03012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limits-left-title">
            <a:extLst xmlns:a="http://schemas.openxmlformats.org/drawingml/2006/main">
              <a:ext uri="{FF2B5EF4-FFF2-40B4-BE49-F238E27FC236}">
                <a16:creationId xmlns:a16="http://schemas.microsoft.com/office/drawing/2014/main" id="{A77438C0-75B3-4BAC-A41D-18FC7E9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Evidências já salvas</a:t>
            </a:r>
          </a:p>
        </p:txBody>
      </p:sp>
      <p:sp>
        <p:nvSpPr>
          <p:cNvPr id="5" name="limits-left">
            <a:extLst xmlns:a="http://schemas.openxmlformats.org/drawingml/2006/main">
              <a:ext uri="{FF2B5EF4-FFF2-40B4-BE49-F238E27FC236}">
                <a16:creationId xmlns:a16="http://schemas.microsoft.com/office/drawing/2014/main" id="{FFD340BD-BDB7-4986-84A8-40437247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ε permaneceu em 0,05 no histórico limpo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retorno médio: 4,34 → 9,84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progresso válido médio: 26,3% → 34,3%</a:t>
            </a:r>
          </a:p>
        </p:txBody>
      </p:sp>
      <p:sp>
        <p:nvSpPr>
          <p:cNvPr id="6" name="limits-right-title">
            <a:extLst xmlns:a="http://schemas.openxmlformats.org/drawingml/2006/main">
              <a:ext uri="{FF2B5EF4-FFF2-40B4-BE49-F238E27FC236}">
                <a16:creationId xmlns:a16="http://schemas.microsoft.com/office/drawing/2014/main" id="{E3121BE2-33AB-41A4-B635-5E08342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Avaliação necessária</a:t>
            </a:r>
          </a:p>
        </p:txBody>
      </p:sp>
      <p:sp>
        <p:nvSpPr>
          <p:cNvPr id="7" name="limits-right">
            <a:extLst xmlns:a="http://schemas.openxmlformats.org/drawingml/2006/main">
              <a:ext uri="{FF2B5EF4-FFF2-40B4-BE49-F238E27FC236}">
                <a16:creationId xmlns:a16="http://schemas.microsoft.com/office/drawing/2014/main" id="{74A31A80-CCC4-49BB-8E4A-0365F46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executar o modelo salvo com ε = 0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repetir várias tentativas sem atualizar Q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medir chegada, retorno e passos até a meta</a:t>
            </a:r>
          </a:p>
        </p:txBody>
      </p:sp>
      <p:sp>
        <p:nvSpPr>
          <p:cNvPr id="8" name="limits-bottom">
            <a:extLst xmlns:a="http://schemas.openxmlformats.org/drawingml/2006/main">
              <a:ext uri="{FF2B5EF4-FFF2-40B4-BE49-F238E27FC236}">
                <a16:creationId xmlns:a16="http://schemas.microsoft.com/office/drawing/2014/main" id="{B6D7B5EC-6CAB-47BD-8BEF-C360C05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Taxa durante treino com exploração ≠ desempenho final da política.</a:t>
            </a:r>
          </a:p>
        </p:txBody>
      </p:sp>
    </p:spTree>
    <p:extLst>
      <p:ext uri="{BB962C8B-B14F-4D97-AF65-F5344CB8AC3E}">
        <p14:creationId xmlns:p14="http://schemas.microsoft.com/office/powerpoint/2010/main" val="1546597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7AEEFFF9-18D5-4E7E-96B0-EED3103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591C0AB-F39A-4E88-A040-F29E8CA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IA aprende uma política porque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ação produz estado, recompensa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 uma correção na tabela Q.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6FE5C5BE-83C6-446F-92B6-842B66D9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6E8CD8DF-4372-4080-83ED-4EDA40EF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Representação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6E70F7F6-D478-4C91-AAED-C6A43826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O mapa 3D é normalizado e codificado em 3.456 estados.</a:t>
            </a:r>
          </a:p>
        </p:txBody>
      </p:sp>
      <p:sp>
        <p:nvSpPr>
          <p:cNvPr id="6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32EEEC9E-AFCD-4CD1-8025-880AA9B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Aprendizado</a:t>
            </a:r>
          </a:p>
        </p:txBody>
      </p:sp>
      <p:sp>
        <p:nvSpPr>
          <p:cNvPr id="7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81417340-BCFA-4518-9FA7-DC06BA8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Bellman, ε-greedy e recompensa transformam experiência em política.</a:t>
            </a:r>
          </a:p>
        </p:txBody>
      </p:sp>
      <p:sp>
        <p:nvSpPr>
          <p:cNvPr id="8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07D0E4E4-4A81-4C72-8F1A-0007D80D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Avaliação</a:t>
            </a:r>
          </a:p>
        </p:txBody>
      </p:sp>
      <p:sp>
        <p:nvSpPr>
          <p:cNvPr id="9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0FF1DF43-6FDC-4AA7-BB56-D472D36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Carregar o modelo salvo e medir a política com ε = 0.</a:t>
            </a:r>
          </a:p>
        </p:txBody>
      </p:sp>
    </p:spTree>
    <p:extLst>
      <p:ext uri="{BB962C8B-B14F-4D97-AF65-F5344CB8AC3E}">
        <p14:creationId xmlns:p14="http://schemas.microsoft.com/office/powerpoint/2010/main" val="616153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2026-08-17T01:26:13.0890000Z</dcterms:created>
  <dcterms:modified xsi:type="dcterms:W3CDTF">2026-08-17T01:26:13.0890000Z</dcterms:modified>
</coreProperties>
</file>