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8ea33e65114e8c" /><Relationship Type="http://schemas.openxmlformats.org/officeDocument/2006/relationships/extended-properties" Target="/docProps/app.xml" Id="Re43b38853526433e" /><Relationship Type="http://schemas.openxmlformats.org/officeDocument/2006/relationships/officeDocument" Target="/ppt/presentation.xml" Id="R4e98b51b03a94d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c82cb053414e34"/>
  </p:sldMasterIdLst>
  <p:notesMasterIdLst>
    <p:notesMasterId xmlns:r="http://schemas.openxmlformats.org/officeDocument/2006/relationships" r:id="R0190d552246d413e"/>
  </p:notesMasterIdLst>
  <p:sldIdLst>
    <p:sldId xmlns:r="http://schemas.openxmlformats.org/officeDocument/2006/relationships" id="256" r:id="R9ad88b39a652475d"/>
    <p:sldId xmlns:r="http://schemas.openxmlformats.org/officeDocument/2006/relationships" id="257" r:id="R451167490dd649d5"/>
    <p:sldId xmlns:r="http://schemas.openxmlformats.org/officeDocument/2006/relationships" id="258" r:id="Rb7dc2b421c51444c"/>
    <p:sldId xmlns:r="http://schemas.openxmlformats.org/officeDocument/2006/relationships" id="259" r:id="R3f08abdee8374da1"/>
    <p:sldId xmlns:r="http://schemas.openxmlformats.org/officeDocument/2006/relationships" id="260" r:id="R2ab8f6a6b8bc4bcd"/>
    <p:sldId xmlns:r="http://schemas.openxmlformats.org/officeDocument/2006/relationships" id="261" r:id="Rdc0db25bab544e02"/>
    <p:sldId xmlns:r="http://schemas.openxmlformats.org/officeDocument/2006/relationships" id="262" r:id="R189d003b8f944345"/>
    <p:sldId xmlns:r="http://schemas.openxmlformats.org/officeDocument/2006/relationships" id="263" r:id="Rc3473ab07e5247f2"/>
    <p:sldId xmlns:r="http://schemas.openxmlformats.org/officeDocument/2006/relationships" id="264" r:id="Rb03f45fee6f34c48"/>
    <p:sldId xmlns:r="http://schemas.openxmlformats.org/officeDocument/2006/relationships" id="265" r:id="R1b91dccf6a4f40bc"/>
    <p:sldId xmlns:r="http://schemas.openxmlformats.org/officeDocument/2006/relationships" id="266" r:id="Rc553ad81a57e48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0a34504ad24199" /><Relationship Type="http://schemas.openxmlformats.org/officeDocument/2006/relationships/slideMaster" Target="/ppt/slideMasters/slideMaster1.xml" Id="R24c82cb053414e34" /><Relationship Type="http://schemas.openxmlformats.org/officeDocument/2006/relationships/notesMaster" Target="/ppt/notesMasters/notesMaster1.xml" Id="R0190d552246d413e" /><Relationship Type="http://schemas.openxmlformats.org/officeDocument/2006/relationships/presProps" Target="/ppt/presProps.xml" Id="R00bd933219334b86" /><Relationship Type="http://schemas.openxmlformats.org/officeDocument/2006/relationships/tableStyles" Target="/ppt/tableStyles.xml" Id="Rf9b6440529d44725" /><Relationship Type="http://schemas.openxmlformats.org/officeDocument/2006/relationships/slide" Target="/ppt/slides/slide1.xml" Id="R9ad88b39a652475d" /><Relationship Type="http://schemas.openxmlformats.org/officeDocument/2006/relationships/slide" Target="/ppt/slides/slide2.xml" Id="R451167490dd649d5" /><Relationship Type="http://schemas.openxmlformats.org/officeDocument/2006/relationships/slide" Target="/ppt/slides/slide3.xml" Id="Rb7dc2b421c51444c" /><Relationship Type="http://schemas.openxmlformats.org/officeDocument/2006/relationships/slide" Target="/ppt/slides/slide4.xml" Id="R3f08abdee8374da1" /><Relationship Type="http://schemas.openxmlformats.org/officeDocument/2006/relationships/slide" Target="/ppt/slides/slide5.xml" Id="R2ab8f6a6b8bc4bcd" /><Relationship Type="http://schemas.openxmlformats.org/officeDocument/2006/relationships/slide" Target="/ppt/slides/slide6.xml" Id="Rdc0db25bab544e02" /><Relationship Type="http://schemas.openxmlformats.org/officeDocument/2006/relationships/slide" Target="/ppt/slides/slide7.xml" Id="R189d003b8f944345" /><Relationship Type="http://schemas.openxmlformats.org/officeDocument/2006/relationships/slide" Target="/ppt/slides/slide8.xml" Id="Rc3473ab07e5247f2" /><Relationship Type="http://schemas.openxmlformats.org/officeDocument/2006/relationships/slide" Target="/ppt/slides/slide9.xml" Id="Rb03f45fee6f34c48" /><Relationship Type="http://schemas.openxmlformats.org/officeDocument/2006/relationships/slide" Target="/ppt/slides/slide10.xml" Id="R1b91dccf6a4f40bc" /><Relationship Type="http://schemas.openxmlformats.org/officeDocument/2006/relationships/slide" Target="/ppt/slides/slide11.xml" Id="Rc553ad81a57e48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11677a92054f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5ff34810fa47c9" /><Relationship Type="http://schemas.openxmlformats.org/officeDocument/2006/relationships/notesMaster" Target="/ppt/notesMasters/notesMaster1.xml" Id="R42e29d800cd344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b0b79fec74743fe" /><Relationship Type="http://schemas.openxmlformats.org/officeDocument/2006/relationships/notesMaster" Target="/ppt/notesMasters/notesMaster1.xml" Id="Rd9405b5b47414a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0ea49c70344445" /><Relationship Type="http://schemas.openxmlformats.org/officeDocument/2006/relationships/notesMaster" Target="/ppt/notesMasters/notesMaster1.xml" Id="R1309c3fa6aa74d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6ea43c12f8407a" /><Relationship Type="http://schemas.openxmlformats.org/officeDocument/2006/relationships/notesMaster" Target="/ppt/notesMasters/notesMaster1.xml" Id="R488d3d8d1b5844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7c0799715a47fb" /><Relationship Type="http://schemas.openxmlformats.org/officeDocument/2006/relationships/notesMaster" Target="/ppt/notesMasters/notesMaster1.xml" Id="R1788601b000041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789e8bd8644998" /><Relationship Type="http://schemas.openxmlformats.org/officeDocument/2006/relationships/notesMaster" Target="/ppt/notesMasters/notesMaster1.xml" Id="R34b1c8592d6d4c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c2615376af40a6" /><Relationship Type="http://schemas.openxmlformats.org/officeDocument/2006/relationships/notesMaster" Target="/ppt/notesMasters/notesMaster1.xml" Id="R5da4b3272e1b45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1421286dd14c6a" /><Relationship Type="http://schemas.openxmlformats.org/officeDocument/2006/relationships/notesMaster" Target="/ppt/notesMasters/notesMaster1.xml" Id="R3d48bc658bbc4d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a5f27b07274c1c" /><Relationship Type="http://schemas.openxmlformats.org/officeDocument/2006/relationships/notesMaster" Target="/ppt/notesMasters/notesMaster1.xml" Id="Rcb8a0f0b352042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ac19b9fac6541b5" /><Relationship Type="http://schemas.openxmlformats.org/officeDocument/2006/relationships/notesMaster" Target="/ppt/notesMasters/notesMaster1.xml" Id="Rc29e2a1315414c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96f94061cf45ef" /><Relationship Type="http://schemas.openxmlformats.org/officeDocument/2006/relationships/notesMaster" Target="/ppt/notesMasters/notesMaster1.xml" Id="Rbd99c51d0f3c43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1</a:t>
            </a:r>
          </a:p>
          <a:p xmlns:a="http://schemas.openxmlformats.org/drawingml/2006/main">
            <a:r>
              <a:t>Tempo: 0min30s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Abrir com a pergunta: como um agente aprende quando andar, correr ou pular sem receber uma regra pronta para cada obstáculo?</a:t>
            </a:r>
          </a:p>
          <a:p xmlns:a="http://schemas.openxmlformats.org/drawingml/2006/main">
            <a:r>
              <a:t>Definir Minecraft em uma frase: é apenas o ambiente 3D que fornece física, observações e consequências das ações.</a:t>
            </a:r>
          </a:p>
          <a:p xmlns:a="http://schemas.openxmlformats.org/drawingml/2006/main">
            <a:r>
              <a:t>Antecipar a ideia central: modelamos o problema como aprendizado por reforço tabular e atualizamos a tabela Q a cada experiência.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config/cenarios/labirinto_parkours.json</a:t>
            </a:r>
          </a:p>
          <a:p xmlns:a="http://schemas.openxmlformats.org/drawingml/2006/main">
            <a:r>
              <a:t>- Imagem: OpenAI ImageGen; prompt registrado em work/presentation-build/source-notes.txt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1</a:t>
            </a:r>
          </a:p>
          <a:p xmlns:a="http://schemas.openxmlformats.org/drawingml/2006/main">
            <a:r>
              <a:t>Tempo: 1min10s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Definir o problema como controle sequencial: o agente observa, age, recebe uma consequência e chega a uma nova situação.</a:t>
            </a:r>
          </a:p>
          <a:p xmlns:a="http://schemas.openxmlformats.org/drawingml/2006/main">
            <a:r>
              <a:t>Explicar os quatro elementos da direita. A política é epsilon-greedy e o objetivo é maximizar a soma de recompensas ao longo do episódio.</a:t>
            </a:r>
          </a:p>
          <a:p xmlns:a="http://schemas.openxmlformats.org/drawingml/2006/main">
            <a:r>
              <a:t>Evitar explicar mecânicas do jogo. Para a disciplina, basta dizer que o ambiente aplica física e informa posição e velocidade.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docs/GUIA_Q_LEARNING.md</a:t>
            </a:r>
          </a:p>
          <a:p xmlns:a="http://schemas.openxmlformats.org/drawingml/2006/main">
            <a:r>
              <a:t>- docs/COMO_O_PROJETO_FUNCIONA.md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2</a:t>
            </a:r>
          </a:p>
          <a:p xmlns:a="http://schemas.openxmlformats.org/drawingml/2006/main">
            <a:r>
              <a:t>Tempo: 1min30s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Etapa 1: a ferramenta lê os arquivos regionais do mundo e traduz cada bloco para uma caixa de colisão com altura e largura.</a:t>
            </a:r>
          </a:p>
          <a:p xmlns:a="http://schemas.openxmlformats.org/drawingml/2006/main">
            <a:r>
              <a:t>Etapa 2: início e fim definem uma transformação de coordenadas. Qualquer direção real vira lateral, altura e progresso crescente.</a:t>
            </a:r>
          </a:p>
          <a:p xmlns:a="http://schemas.openxmlformats.org/drawingml/2006/main">
            <a:r>
              <a:t>Etapa 3: o estado consulta apoios nas quatro células seguintes e combina essa leitura com altura relativa, posição no bloco, fase vertical e velocidade.</a:t>
            </a:r>
          </a:p>
          <a:p xmlns:a="http://schemas.openxmlformats.org/drawingml/2006/main">
            <a:r>
              <a:t>O JSON é um mapa estático da geometria; a dinâmica do movimento continua sendo observada diretamente no ambiente durante cada 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tools/mapear_percurso.py</a:t>
            </a:r>
          </a:p>
          <a:p xmlns:a="http://schemas.openxmlformats.org/drawingml/2006/main">
            <a:r>
              <a:t>- tools/nbt.py</a:t>
            </a:r>
          </a:p>
          <a:p xmlns:a="http://schemas.openxmlformats.org/drawingml/2006/main">
            <a:r>
              <a:t>- tools/blocos.py</a:t>
            </a:r>
          </a:p>
          <a:p xmlns:a="http://schemas.openxmlformats.org/drawingml/2006/main">
            <a:r>
              <a:t>- src/parkour/coordenadas.py</a:t>
            </a:r>
          </a:p>
          <a:p xmlns:a="http://schemas.openxmlformats.org/drawingml/2006/main">
            <a:r>
              <a:t>- src/parkour/estado.py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2</a:t>
            </a:r>
          </a:p>
          <a:p xmlns:a="http://schemas.openxmlformats.org/drawingml/2006/main">
            <a:r>
              <a:t>Tempo: 1min35s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Explicar que Q-Learning tabular exige um índice inteiro de estado.</a:t>
            </a:r>
          </a:p>
          <a:p xmlns:a="http://schemas.openxmlformats.org/drawingml/2006/main">
            <a:r>
              <a:t>O modo piso combina quatro bits de apoio, seis classes de altura, posição no bloco, fase vertical e faixa de velocidade: 16 × 6 × 4 × 3 × 3 = 3.456.</a:t>
            </a:r>
          </a:p>
          <a:p xmlns:a="http://schemas.openxmlformats.org/drawingml/2006/main">
            <a:r>
              <a:t>As quatro ações são suficientes para o corredor reto e duram quatro ticks, aproximadamente 200 ms.</a:t>
            </a:r>
          </a:p>
          <a:p xmlns:a="http://schemas.openxmlformats.org/drawingml/2006/main">
            <a:r>
              <a:t>A recompensa usa progresso líquido para evitar ganhar pontos oscilando para frente e para trás; o detalhe completo aparece no slide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src/parkour/estado.py</a:t>
            </a:r>
          </a:p>
          <a:p xmlns:a="http://schemas.openxmlformats.org/drawingml/2006/main">
            <a:r>
              <a:t>- src/parkour/acoes.py</a:t>
            </a:r>
          </a:p>
          <a:p xmlns:a="http://schemas.openxmlformats.org/drawingml/2006/main">
            <a:r>
              <a:t>- src/parkour/recompensa.py</a:t>
            </a:r>
          </a:p>
          <a:p xmlns:a="http://schemas.openxmlformats.org/drawingml/2006/main">
            <a:r>
              <a:t>- config/parkour.json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2</a:t>
            </a:r>
          </a:p>
          <a:p xmlns:a="http://schemas.openxmlformats.org/drawingml/2006/main">
            <a:r>
              <a:t>Tempo: 1min35s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Ler a equação em linguagem simples: comparar o valor atual com a recompensa imediata mais o melhor futuro conhecido.</a:t>
            </a:r>
          </a:p>
          <a:p xmlns:a="http://schemas.openxmlformats.org/drawingml/2006/main">
            <a:r>
              <a:t>Destacar que α controla quanto a experiência nova corrige a tabela e γ valoriza consequências futuras.</a:t>
            </a:r>
          </a:p>
          <a:p xmlns:a="http://schemas.openxmlformats.org/drawingml/2006/main">
            <a:r>
              <a:t>Explicar epsilon-greedy: com probabilidade epsilon escolhemos uma ação aleatória; caso contrário usamos a melhor ação conhecida.</a:t>
            </a:r>
          </a:p>
          <a:p xmlns:a="http://schemas.openxmlformats.org/drawingml/2006/main">
            <a:r>
              <a:t>Relacionar os valores: alfa 0,20 evita substituir completamente o passado; gama 0,97 valoriza chegar à meta; o decaimento reduz a exploração lentamente.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src/parkour/q_learning.py</a:t>
            </a:r>
          </a:p>
          <a:p xmlns:a="http://schemas.openxmlformats.org/drawingml/2006/main">
            <a:r>
              <a:t>- config/parkour.json</a:t>
            </a:r>
          </a:p>
          <a:p xmlns:a="http://schemas.openxmlformats.org/drawingml/2006/main">
            <a:r>
              <a:t>- docs/GUIA_Q_LEARNING.md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2</a:t>
            </a:r>
          </a:p>
          <a:p xmlns:a="http://schemas.openxmlformats.org/drawingml/2006/main">
            <a:r>
              <a:t>Tempo: 1min15s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Percorrer o fluxo usando a notação padrão de aprendizado por reforço: estado s, ação a, recompensa r e próximo estado s linha.</a:t>
            </a:r>
          </a:p>
          <a:p xmlns:a="http://schemas.openxmlformats.org/drawingml/2006/main">
            <a:r>
              <a:t>A ação dura quatro ticks, aproximadamente 200 ms. Isso reduz a frequência de decisão sem eliminar o controle do salto.</a:t>
            </a:r>
          </a:p>
          <a:p xmlns:a="http://schemas.openxmlformats.org/drawingml/2006/main">
            <a:r>
              <a:t>Nos três percursos deste experimento, o limite é 80 decisões. Ao final, a tabela e o histórico podem ser salvos e epsilon diminui.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docs/COMO_O_PROJETO_FUNCIONA.md</a:t>
            </a:r>
          </a:p>
          <a:p xmlns:a="http://schemas.openxmlformats.org/drawingml/2006/main">
            <a:r>
              <a:t>- src/parkour/ambiente_mc.py</a:t>
            </a:r>
          </a:p>
          <a:p xmlns:a="http://schemas.openxmlformats.org/drawingml/2006/main">
            <a:r>
              <a:t>- src/parkour/treinar.py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3</a:t>
            </a:r>
          </a:p>
          <a:p xmlns:a="http://schemas.openxmlformats.org/drawingml/2006/main">
            <a:r>
              <a:t>Tempo: 1min15s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Mostrar que a equação cabe em poucas linhas; a maior dificuldade não é a fórmula, mas definir boas observações e recompensas.</a:t>
            </a:r>
          </a:p>
          <a:p xmlns:a="http://schemas.openxmlformats.org/drawingml/2006/main">
            <a:r>
              <a:t>O desacoplamento permite testar Bellman, persistência, estado e recompensa sem abrir o ambiente 3D.</a:t>
            </a:r>
          </a:p>
          <a:p xmlns:a="http://schemas.openxmlformats.org/drawingml/2006/main">
            <a:r>
              <a:t>O adaptador ambiente_mc.py faz a ponte com a física real, mas não altera a lógica do Q-Learning.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src/parkour/q_learning.py</a:t>
            </a:r>
          </a:p>
          <a:p xmlns:a="http://schemas.openxmlformats.org/drawingml/2006/main">
            <a:r>
              <a:t>- src/parkour/ambiente_mc.py</a:t>
            </a:r>
          </a:p>
          <a:p xmlns:a="http://schemas.openxmlformats.org/drawingml/2006/main">
            <a:r>
              <a:t>- src/parkour/estado.py</a:t>
            </a:r>
          </a:p>
          <a:p xmlns:a="http://schemas.openxmlformats.org/drawingml/2006/main">
            <a:r>
              <a:t>- src/parkour/treinar.py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3</a:t>
            </a:r>
          </a:p>
          <a:p xmlns:a="http://schemas.openxmlformats.org/drawingml/2006/main">
            <a:r>
              <a:t>Tempo: 1min10s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Explicar que a recompensa é a especificação do objetivo: o agente não sabe o que é um salto bonito, apenas tenta maximizar retorno.</a:t>
            </a:r>
          </a:p>
          <a:p xmlns:a="http://schemas.openxmlformats.org/drawingml/2006/main">
            <a:r>
              <a:t>O termo de progresso é deslocamento líquido. Se o agente avança e volta, o ganho é cancelado; isso reduz reward hacking.</a:t>
            </a:r>
          </a:p>
          <a:p xmlns:a="http://schemas.openxmlformats.org/drawingml/2006/main">
            <a:r>
              <a:t>No cenário usado, progresso só é confirmado após pousar em um apoio mapeado, evitando premiar um salto que termina em queda.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src/parkour/recompensa.py</a:t>
            </a:r>
          </a:p>
          <a:p xmlns:a="http://schemas.openxmlformats.org/drawingml/2006/main">
            <a:r>
              <a:t>- src/parkour/ambiente_mc.py</a:t>
            </a:r>
          </a:p>
          <a:p xmlns:a="http://schemas.openxmlformats.org/drawingml/2006/main">
            <a:r>
              <a:t>- config/parkour.json</a:t>
            </a:r>
          </a:p>
          <a:p xmlns:a="http://schemas.openxmlformats.org/drawingml/2006/main">
            <a:r>
              <a:t>- config/cenarios/labirinto_parkours.json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Responsável sugerido: Integrante 4</a:t>
            </a:r>
          </a:p>
          <a:p xmlns:a="http://schemas.openxmlformats.org/drawingml/2006/main">
            <a:r>
              <a:t>Tempo: 1min20s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treino mais recente do frente_1 usou 70 bots por 50 rodadas: 70 × 50 = 3.500 episódios, numerados de 1 a 3.500.</a:t>
            </a:r>
          </a:p>
          <a:p xmlns:a="http://schemas.openxmlformats.org/drawingml/2006/main">
            <a:r>
              <a:t>Nesse arquivo, 252 episódios chegaram à meta: taxa de 7,20% durante o treino.</a:t>
            </a:r>
          </a:p>
          <a:p xmlns:a="http://schemas.openxmlformats.org/drawingml/2006/main">
            <a:r>
              <a:t>Nos primeiros 1.000 registros foram 60 chegadas, ou 6,00%; nos últimos 1.000 foram 104, ou 10,40%.</a:t>
            </a:r>
          </a:p>
          <a:p xmlns:a="http://schemas.openxmlformats.org/drawingml/2006/main">
            <a:r>
              <a:t>Essas taxas são do treino com epsilon-greedy. Elas evidenciam melhora, mas não substituem uma avaliação separada com epsilon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Informação do grupo: execução com 70 bots × 50 rodadas</a:t>
            </a:r>
          </a:p>
          <a:p xmlns:a="http://schemas.openxmlformats.org/drawingml/2006/main">
            <a:r>
              <a:t>- resultados/modelos/q_learning_labirinto_parkours_frente_1_acoes_v2_estado_v2_recompensa_v2_resultado.csv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a avaliação soma três execuções: 10 + 50 + 50 = 110 tentativas.</a:t>
            </a:r>
          </a:p>
          <a:p xmlns:a="http://schemas.openxmlformats.org/drawingml/2006/main">
            <a:r>
              <a:t>Em todas elas, epsilon foi zero e a tabela Q permaneceu congelada; portanto, medimos a política aprendida sem exploração nem novas atualizações.</a:t>
            </a:r>
          </a:p>
          <a:p xmlns:a="http://schemas.openxmlformats.org/drawingml/2006/main">
            <a:r>
              <a:t>Resultado consolidado: 8 chegadas, taxa de 7,27%, retorno médio 6,03, 17,09 passos médios e progresso válido médio 29,32%.</a:t>
            </a:r>
          </a:p>
          <a:p xmlns:a="http://schemas.openxmlformats.org/drawingml/2006/main">
            <a:r>
              <a:t>As taxas individuais foram 40%, 4% e 4%. Essa variação deve ser relatada: o agregado resume todas as tentativas, mas a amostra pequena da primeira execução torna o resultado instável.</a:t>
            </a:r>
          </a:p>
          <a:p xmlns:a="http://schemas.openxmlformats.org/drawingml/2006/main">
            <a:r>
              <a:t>A taxa de avaliação não deve ser comparada como se fosse a mesma medida do treino: no treino havia exploração e atualização da tabela; na avaliação, não.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resultados/modelos/q_learning_labirinto_parkours_frente_1_acoes_v2_estado_v2_recompensa_v2_resultado.csv (análise local, 17/08/2026)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Fechar retomando as três decisões de IA: representar o ambiente, aprender valores com Bellman e medir a política separadamente.</a:t>
            </a:r>
          </a:p>
          <a:p xmlns:a="http://schemas.openxmlformats.org/drawingml/2006/main">
            <a:r>
              <a:t>A avaliação confirma que existe uma política capaz de chegar à meta, mas 102 das 110 tentativas ainda falharam. Portanto, o desempenho permanece limitado.</a:t>
            </a:r>
          </a:p>
          <a:p xmlns:a="http://schemas.openxmlformats.org/drawingml/2006/main">
            <a:r>
              <a:t>A formulação e a implementação funcionam; o próximo trabalho experimental seria repetir a avaliação com mais tentativas e investigar a variação entre execuções.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resultados/modelos/q_learning_labirinto_parkours_frente_1_acoes_v2_estado_v2_recompensa_v2_resultado.csv (análise local, 17/08/2026)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3ca744baa540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a5bf5db338498f" /><Relationship Type="http://schemas.openxmlformats.org/officeDocument/2006/relationships/slideLayout" Target="/ppt/slideLayouts/slideLayout1.xml" Id="Rb29757ae055149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9757ae055149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816c2205042a8" /><Relationship Type="http://schemas.openxmlformats.org/officeDocument/2006/relationships/image" Target="/ppt/media/image.png" Id="Re820a52c08944747" /><Relationship Type="http://schemas.openxmlformats.org/officeDocument/2006/relationships/notesSlide" Target="/ppt/notesSlides/notesSlide1.xml" Id="R2d8bef3aef3c4c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71aeb1f60c4f53" /><Relationship Type="http://schemas.openxmlformats.org/officeDocument/2006/relationships/notesSlide" Target="/ppt/notesSlides/notesSlide2.xml" Id="R1d914409c6714d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3e071c4ed4455" /><Relationship Type="http://schemas.openxmlformats.org/officeDocument/2006/relationships/notesSlide" Target="/ppt/notesSlides/notesSlide3.xml" Id="R54917a4b7c8f4b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1365faaf44fdd" /><Relationship Type="http://schemas.openxmlformats.org/officeDocument/2006/relationships/notesSlide" Target="/ppt/notesSlides/notesSlide4.xml" Id="Rc26c2de76d954b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f9e0748664f80" /><Relationship Type="http://schemas.openxmlformats.org/officeDocument/2006/relationships/notesSlide" Target="/ppt/notesSlides/notesSlide5.xml" Id="R286ee5ba2ca241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927c4b026420f" /><Relationship Type="http://schemas.openxmlformats.org/officeDocument/2006/relationships/notesSlide" Target="/ppt/notesSlides/notesSlide6.xml" Id="Rc32056a2ff7a4d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595a70793d4ea3" /><Relationship Type="http://schemas.openxmlformats.org/officeDocument/2006/relationships/notesSlide" Target="/ppt/notesSlides/notesSlide7.xml" Id="R3f1243f6a06244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ff074fca540d4" /><Relationship Type="http://schemas.openxmlformats.org/officeDocument/2006/relationships/notesSlide" Target="/ppt/notesSlides/notesSlide8.xml" Id="Rc31008f827f842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0dda732184355" /><Relationship Type="http://schemas.openxmlformats.org/officeDocument/2006/relationships/notesSlide" Target="/ppt/notesSlides/notesSlide9.xml" Id="Rf4b22e2599a04e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df3df59374a0a" /><Relationship Type="http://schemas.openxmlformats.org/officeDocument/2006/relationships/notesSlide" Target="/ppt/notesSlides/notesSlide10.xml" Id="Ra49a2a46fd684d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d4ad4097145f1" /><Relationship Type="http://schemas.openxmlformats.org/officeDocument/2006/relationships/notesSlide" Target="/ppt/notesSlides/notesSlide11.xml" Id="R11bbebfe9d1346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63D93C1A-3FB6-4C62-8D52-12216984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INTRODUÇÃO À INTELIGÊNCIA ARTIFICIAL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E46556E-B86F-4424-AC07-CE0C2EF5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5143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86000"/>
              </a:lnSpc>
              <a:buNone/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Q-Learning para</a:t>
            </a:r>
          </a:p>
          <a:p xmlns:a="http://schemas.openxmlformats.org/drawingml/2006/main">
            <a:pPr>
              <a:lnSpc>
                <a:spcPct val="86000"/>
              </a:lnSpc>
              <a:buNone/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controle de</a:t>
            </a:r>
          </a:p>
          <a:p xmlns:a="http://schemas.openxmlformats.org/drawingml/2006/main">
            <a:pPr>
              <a:lnSpc>
                <a:spcPct val="86000"/>
              </a:lnSpc>
              <a:buNone/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parkour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706F184-5346-4AA4-AFA8-E4019B85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814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8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5B6472"/>
                </a:solidFill>
                <a:latin typeface="Arial"/>
                <a:ea typeface="Arial"/>
                <a:cs typeface="Arial"/>
              </a:rPr>
              <a:t>Aprendizado por reforço tabular em um ambiente 3D, com estados, ações e recompensas.</a:t>
            </a:r>
          </a:p>
        </p:txBody>
      </p:sp>
      <p:sp>
        <p:nvSpPr>
          <p:cNvPr id="4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3B158AF-1B2F-4F7C-83AF-FC1DDFE0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371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scope">
            <a:extLst xmlns:a="http://schemas.openxmlformats.org/drawingml/2006/main">
              <a:ext uri="{FF2B5EF4-FFF2-40B4-BE49-F238E27FC236}">
                <a16:creationId xmlns:a16="http://schemas.microsoft.com/office/drawing/2014/main" id="{D798CC83-28EE-45AA-AA7B-643B0500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95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B6472"/>
                </a:solidFill>
                <a:latin typeface="Arial"/>
                <a:ea typeface="Arial"/>
                <a:cs typeface="Arial"/>
              </a:rPr>
              <a:t>Minecraft é apenas o ambiente experimental; o foco é a IA.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20a52c08944747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</p:spTree>
    <p:extLst>
      <p:ext uri="{BB962C8B-B14F-4D97-AF65-F5344CB8AC3E}">
        <p14:creationId xmlns:p14="http://schemas.microsoft.com/office/powerpoint/2010/main" val="2520804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ection-2">
            <a:extLst xmlns:a="http://schemas.openxmlformats.org/drawingml/2006/main">
              <a:ext uri="{FF2B5EF4-FFF2-40B4-BE49-F238E27FC236}">
                <a16:creationId xmlns:a16="http://schemas.microsoft.com/office/drawing/2014/main" id="{3CCA2A9F-2418-4533-8FE8-BB499B3E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PROBLEMA DE IA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594AD61-E0BF-48DC-8D70-670D7033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 parkour é um problema de decisão sequencial</a:t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6324C1BD-B38C-4F81-AEFB-8B5F820E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54C9A876-6D19-45F7-9479-16DEB0D6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29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Cada ação altera o próximo</a:t>
            </a:r>
          </a:p>
          <a:p xmlns:a="http://schemas.openxmlformats.org/drawingml/2006/main">
            <a:pPr>
              <a:lnSpc>
                <a:spcPct val="92000"/>
              </a:lnSpc>
              <a:buNone/>
              <a:defRPr sz="29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estado do agente.</a:t>
            </a:r>
          </a:p>
        </p:txBody>
      </p:sp>
      <p:sp>
        <p:nvSpPr>
          <p:cNvPr id="5" name="problem-bullets">
            <a:extLst xmlns:a="http://schemas.openxmlformats.org/drawingml/2006/main">
              <a:ext uri="{FF2B5EF4-FFF2-40B4-BE49-F238E27FC236}">
                <a16:creationId xmlns:a16="http://schemas.microsoft.com/office/drawing/2014/main" id="{43567A03-A16E-4780-925E-A1E5FBD3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504825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7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não há uma regra fixa para cada salto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7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 decisão atual afeta as opções futuras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72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o objetivo é maximizar a recompensa acumulada</a:t>
            </a:r>
          </a:p>
        </p:txBody>
      </p:sp>
      <p:sp>
        <p:nvSpPr>
          <p:cNvPr id="6" name="agenda-title">
            <a:extLst xmlns:a="http://schemas.openxmlformats.org/drawingml/2006/main">
              <a:ext uri="{FF2B5EF4-FFF2-40B4-BE49-F238E27FC236}">
                <a16:creationId xmlns:a16="http://schemas.microsoft.com/office/drawing/2014/main" id="{AF8CBD5F-CD0D-4E1F-AB95-186DB655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097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057"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Elementos do aprendizado por reforço</a:t>
            </a:r>
          </a:p>
        </p:txBody>
      </p:sp>
      <p:sp>
        <p:nvSpPr>
          <p:cNvPr id="7" name="agenda-rule-0">
            <a:extLst xmlns:a="http://schemas.openxmlformats.org/drawingml/2006/main">
              <a:ext uri="{FF2B5EF4-FFF2-40B4-BE49-F238E27FC236}">
                <a16:creationId xmlns:a16="http://schemas.microsoft.com/office/drawing/2014/main" id="{30B77530-B4B5-4928-B134-B3377CDF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14650"/>
            <a:ext cx="480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genda-num-0">
            <a:extLst xmlns:a="http://schemas.openxmlformats.org/drawingml/2006/main">
              <a:ext uri="{FF2B5EF4-FFF2-40B4-BE49-F238E27FC236}">
                <a16:creationId xmlns:a16="http://schemas.microsoft.com/office/drawing/2014/main" id="{5F192FD0-2824-4A03-8A25-0A62DAC0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agenda-label-0">
            <a:extLst xmlns:a="http://schemas.openxmlformats.org/drawingml/2006/main">
              <a:ext uri="{FF2B5EF4-FFF2-40B4-BE49-F238E27FC236}">
                <a16:creationId xmlns:a16="http://schemas.microsoft.com/office/drawing/2014/main" id="{C91ABDCA-B527-474B-895D-29F47FDE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003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Agente</a:t>
            </a:r>
          </a:p>
        </p:txBody>
      </p:sp>
      <p:sp>
        <p:nvSpPr>
          <p:cNvPr id="10" name="agenda-time-0">
            <a:extLst xmlns:a="http://schemas.openxmlformats.org/drawingml/2006/main">
              <a:ext uri="{FF2B5EF4-FFF2-40B4-BE49-F238E27FC236}">
                <a16:creationId xmlns:a16="http://schemas.microsoft.com/office/drawing/2014/main" id="{18B496E4-E57D-425A-B131-ACA42DA7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4003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5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B6472"/>
                </a:solidFill>
                <a:latin typeface="Arial"/>
                <a:ea typeface="Arial"/>
                <a:cs typeface="Arial"/>
              </a:rPr>
              <a:t>bot</a:t>
            </a:r>
          </a:p>
        </p:txBody>
      </p:sp>
      <p:sp>
        <p:nvSpPr>
          <p:cNvPr id="11" name="agenda-rule-1">
            <a:extLst xmlns:a="http://schemas.openxmlformats.org/drawingml/2006/main">
              <a:ext uri="{FF2B5EF4-FFF2-40B4-BE49-F238E27FC236}">
                <a16:creationId xmlns:a16="http://schemas.microsoft.com/office/drawing/2014/main" id="{E6035879-2E71-4E37-BAC6-FC680AA6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57600"/>
            <a:ext cx="480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genda-num-1">
            <a:extLst xmlns:a="http://schemas.openxmlformats.org/drawingml/2006/main">
              <a:ext uri="{FF2B5EF4-FFF2-40B4-BE49-F238E27FC236}">
                <a16:creationId xmlns:a16="http://schemas.microsoft.com/office/drawing/2014/main" id="{18D0E0E1-8342-4D79-8352-C09AE927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agenda-label-1">
            <a:extLst xmlns:a="http://schemas.openxmlformats.org/drawingml/2006/main">
              <a:ext uri="{FF2B5EF4-FFF2-40B4-BE49-F238E27FC236}">
                <a16:creationId xmlns:a16="http://schemas.microsoft.com/office/drawing/2014/main" id="{3DAB771B-5009-4AA2-A5B8-8CF8786B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432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Ambiente</a:t>
            </a:r>
          </a:p>
        </p:txBody>
      </p:sp>
      <p:sp>
        <p:nvSpPr>
          <p:cNvPr id="14" name="agenda-time-1">
            <a:extLst xmlns:a="http://schemas.openxmlformats.org/drawingml/2006/main">
              <a:ext uri="{FF2B5EF4-FFF2-40B4-BE49-F238E27FC236}">
                <a16:creationId xmlns:a16="http://schemas.microsoft.com/office/drawing/2014/main" id="{E2A95A88-1CC1-4184-A793-5678C902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14325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5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B6472"/>
                </a:solidFill>
                <a:latin typeface="Arial"/>
                <a:ea typeface="Arial"/>
                <a:cs typeface="Arial"/>
              </a:rPr>
              <a:t>mundo 3D</a:t>
            </a:r>
          </a:p>
        </p:txBody>
      </p:sp>
      <p:sp>
        <p:nvSpPr>
          <p:cNvPr id="15" name="agenda-rule-2">
            <a:extLst xmlns:a="http://schemas.openxmlformats.org/drawingml/2006/main">
              <a:ext uri="{FF2B5EF4-FFF2-40B4-BE49-F238E27FC236}">
                <a16:creationId xmlns:a16="http://schemas.microsoft.com/office/drawing/2014/main" id="{AA9BE699-A8CA-4D13-AF79-BDAEEBFC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480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agenda-num-2">
            <a:extLst xmlns:a="http://schemas.openxmlformats.org/drawingml/2006/main">
              <a:ext uri="{FF2B5EF4-FFF2-40B4-BE49-F238E27FC236}">
                <a16:creationId xmlns:a16="http://schemas.microsoft.com/office/drawing/2014/main" id="{53DCC2F7-952D-4667-B564-6E0BFD89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862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agenda-label-2">
            <a:extLst xmlns:a="http://schemas.openxmlformats.org/drawingml/2006/main">
              <a:ext uri="{FF2B5EF4-FFF2-40B4-BE49-F238E27FC236}">
                <a16:creationId xmlns:a16="http://schemas.microsoft.com/office/drawing/2014/main" id="{666BA693-B019-4CEB-AEAC-C80133D2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8862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Política</a:t>
            </a:r>
          </a:p>
        </p:txBody>
      </p:sp>
      <p:sp>
        <p:nvSpPr>
          <p:cNvPr id="18" name="agenda-time-2">
            <a:extLst xmlns:a="http://schemas.openxmlformats.org/drawingml/2006/main">
              <a:ext uri="{FF2B5EF4-FFF2-40B4-BE49-F238E27FC236}">
                <a16:creationId xmlns:a16="http://schemas.microsoft.com/office/drawing/2014/main" id="{226BC30D-D49D-4027-8C2F-CE65980E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88620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5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B6472"/>
                </a:solidFill>
                <a:latin typeface="Arial"/>
                <a:ea typeface="Arial"/>
                <a:cs typeface="Arial"/>
              </a:rPr>
              <a:t>ε-greedy</a:t>
            </a:r>
          </a:p>
        </p:txBody>
      </p:sp>
      <p:sp>
        <p:nvSpPr>
          <p:cNvPr id="19" name="agenda-rule-3">
            <a:extLst xmlns:a="http://schemas.openxmlformats.org/drawingml/2006/main">
              <a:ext uri="{FF2B5EF4-FFF2-40B4-BE49-F238E27FC236}">
                <a16:creationId xmlns:a16="http://schemas.microsoft.com/office/drawing/2014/main" id="{ED85A474-E5E9-4CDC-A6BB-D5EA5FB8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43500"/>
            <a:ext cx="4800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genda-num-3">
            <a:extLst xmlns:a="http://schemas.openxmlformats.org/drawingml/2006/main">
              <a:ext uri="{FF2B5EF4-FFF2-40B4-BE49-F238E27FC236}">
                <a16:creationId xmlns:a16="http://schemas.microsoft.com/office/drawing/2014/main" id="{16DA498B-00FA-44E1-A478-D7A94AB7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agenda-label-3">
            <a:extLst xmlns:a="http://schemas.openxmlformats.org/drawingml/2006/main">
              <a:ext uri="{FF2B5EF4-FFF2-40B4-BE49-F238E27FC236}">
                <a16:creationId xmlns:a16="http://schemas.microsoft.com/office/drawing/2014/main" id="{85B8F5DA-C82D-4A76-AE09-5156B985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291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Objetivo</a:t>
            </a:r>
          </a:p>
        </p:txBody>
      </p:sp>
      <p:sp>
        <p:nvSpPr>
          <p:cNvPr id="22" name="agenda-time-3">
            <a:extLst xmlns:a="http://schemas.openxmlformats.org/drawingml/2006/main">
              <a:ext uri="{FF2B5EF4-FFF2-40B4-BE49-F238E27FC236}">
                <a16:creationId xmlns:a16="http://schemas.microsoft.com/office/drawing/2014/main" id="{4A528EF7-7AA7-41E8-B4E7-933F6155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629150"/>
            <a:ext cx="95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5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B6472"/>
                </a:solidFill>
                <a:latin typeface="Arial"/>
                <a:ea typeface="Arial"/>
                <a:cs typeface="Arial"/>
              </a:rPr>
              <a:t>max Σr</a:t>
            </a:r>
          </a:p>
        </p:txBody>
      </p:sp>
    </p:spTree>
    <p:extLst>
      <p:ext uri="{BB962C8B-B14F-4D97-AF65-F5344CB8AC3E}">
        <p14:creationId xmlns:p14="http://schemas.microsoft.com/office/powerpoint/2010/main" val="14003177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3">
            <a:extLst xmlns:a="http://schemas.openxmlformats.org/drawingml/2006/main">
              <a:ext uri="{FF2B5EF4-FFF2-40B4-BE49-F238E27FC236}">
                <a16:creationId xmlns:a16="http://schemas.microsoft.com/office/drawing/2014/main" id="{4C898F8D-4B08-4EC4-AC8E-77A3B704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REPRESENTAÇÃO DO AMBIENTE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D0F5C91-9E1D-4FE5-B443-13BAF3BC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Como o percurso 3D vira entrada para o agente</a:t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97AC10B5-F81A-4953-A888-3A7CD814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tracks-intro">
            <a:extLst xmlns:a="http://schemas.openxmlformats.org/drawingml/2006/main">
              <a:ext uri="{FF2B5EF4-FFF2-40B4-BE49-F238E27FC236}">
                <a16:creationId xmlns:a16="http://schemas.microsoft.com/office/drawing/2014/main" id="{D04CE9E3-5BF5-4644-9278-A1AFE928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3637"/>
          </a:bodyPr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5B6472"/>
                </a:solidFill>
                <a:latin typeface="Arial"/>
                <a:ea typeface="Arial"/>
                <a:cs typeface="Arial"/>
              </a:rPr>
              <a:t>A geometria é convertida uma vez; durante o treino, posição e velocidade continuam vindo do ambiente real.</a:t>
            </a:r>
          </a:p>
        </p:txBody>
      </p:sp>
      <p:sp>
        <p:nvSpPr>
          <p:cNvPr id="5" name="track-line">
            <a:extLst xmlns:a="http://schemas.openxmlformats.org/drawingml/2006/main">
              <a:ext uri="{FF2B5EF4-FFF2-40B4-BE49-F238E27FC236}">
                <a16:creationId xmlns:a16="http://schemas.microsoft.com/office/drawing/2014/main" id="{1E80ABE7-6F44-4361-BBE3-37141902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9953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rack-dot-0">
            <a:extLst xmlns:a="http://schemas.openxmlformats.org/drawingml/2006/main">
              <a:ext uri="{FF2B5EF4-FFF2-40B4-BE49-F238E27FC236}">
                <a16:creationId xmlns:a16="http://schemas.microsoft.com/office/drawing/2014/main" id="{5435F4FD-F735-4C05-A24D-72A58EA5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7182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rack-num-0">
            <a:extLst xmlns:a="http://schemas.openxmlformats.org/drawingml/2006/main">
              <a:ext uri="{FF2B5EF4-FFF2-40B4-BE49-F238E27FC236}">
                <a16:creationId xmlns:a16="http://schemas.microsoft.com/office/drawing/2014/main" id="{4AAFBC07-40AA-424D-8EB4-E4C864D3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rack-title-0">
            <a:extLst xmlns:a="http://schemas.openxmlformats.org/drawingml/2006/main">
              <a:ext uri="{FF2B5EF4-FFF2-40B4-BE49-F238E27FC236}">
                <a16:creationId xmlns:a16="http://schemas.microsoft.com/office/drawing/2014/main" id="{AAAF0697-638D-458D-AD0B-0543E22D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Ler o mundo</a:t>
            </a:r>
          </a:p>
        </p:txBody>
      </p:sp>
      <p:sp>
        <p:nvSpPr>
          <p:cNvPr id="9" name="track-body-0">
            <a:extLst xmlns:a="http://schemas.openxmlformats.org/drawingml/2006/main">
              <a:ext uri="{FF2B5EF4-FFF2-40B4-BE49-F238E27FC236}">
                <a16:creationId xmlns:a16="http://schemas.microsoft.com/office/drawing/2014/main" id="{0DE4B3AB-2239-4FD6-8D77-B6B6ECA4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2571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19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7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5B6472"/>
                </a:solidFill>
                <a:latin typeface="Arial"/>
                <a:ea typeface="Arial"/>
                <a:cs typeface="Arial"/>
              </a:rPr>
              <a:t>Arquivos do mapa → blocos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7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5B6472"/>
                </a:solidFill>
                <a:latin typeface="Arial"/>
                <a:ea typeface="Arial"/>
                <a:cs typeface="Arial"/>
              </a:rPr>
              <a:t>e caixas de colisão</a:t>
            </a:r>
          </a:p>
        </p:txBody>
      </p:sp>
      <p:sp>
        <p:nvSpPr>
          <p:cNvPr id="10" name="track-dot-1">
            <a:extLst xmlns:a="http://schemas.openxmlformats.org/drawingml/2006/main">
              <a:ext uri="{FF2B5EF4-FFF2-40B4-BE49-F238E27FC236}">
                <a16:creationId xmlns:a16="http://schemas.microsoft.com/office/drawing/2014/main" id="{0FEBE701-98F2-4D67-A5C1-1A4F6C96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7182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rack-num-1">
            <a:extLst xmlns:a="http://schemas.openxmlformats.org/drawingml/2006/main">
              <a:ext uri="{FF2B5EF4-FFF2-40B4-BE49-F238E27FC236}">
                <a16:creationId xmlns:a16="http://schemas.microsoft.com/office/drawing/2014/main" id="{1F63DEA5-E40C-43A8-AEAD-EF76C149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765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rack-title-1">
            <a:extLst xmlns:a="http://schemas.openxmlformats.org/drawingml/2006/main">
              <a:ext uri="{FF2B5EF4-FFF2-40B4-BE49-F238E27FC236}">
                <a16:creationId xmlns:a16="http://schemas.microsoft.com/office/drawing/2014/main" id="{0C9718B2-9190-4E0C-8D64-177D0ADE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766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Normalizar</a:t>
            </a:r>
          </a:p>
        </p:txBody>
      </p:sp>
      <p:sp>
        <p:nvSpPr>
          <p:cNvPr id="13" name="track-body-1">
            <a:extLst xmlns:a="http://schemas.openxmlformats.org/drawingml/2006/main">
              <a:ext uri="{FF2B5EF4-FFF2-40B4-BE49-F238E27FC236}">
                <a16:creationId xmlns:a16="http://schemas.microsoft.com/office/drawing/2014/main" id="{F2958B03-ACE4-4057-AC8A-96F3DEC4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67200"/>
            <a:ext cx="2571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19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7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5B6472"/>
                </a:solidFill>
                <a:latin typeface="Arial"/>
                <a:ea typeface="Arial"/>
                <a:cs typeface="Arial"/>
              </a:rPr>
              <a:t>Rotação + translação: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7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5B6472"/>
                </a:solidFill>
                <a:latin typeface="Arial"/>
                <a:ea typeface="Arial"/>
                <a:cs typeface="Arial"/>
              </a:rPr>
              <a:t>meta sempre em +progresso</a:t>
            </a:r>
          </a:p>
        </p:txBody>
      </p:sp>
      <p:sp>
        <p:nvSpPr>
          <p:cNvPr id="14" name="track-dot-2">
            <a:extLst xmlns:a="http://schemas.openxmlformats.org/drawingml/2006/main">
              <a:ext uri="{FF2B5EF4-FFF2-40B4-BE49-F238E27FC236}">
                <a16:creationId xmlns:a16="http://schemas.microsoft.com/office/drawing/2014/main" id="{E54C2332-A849-4CBF-B028-7659090A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71825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rack-num-2">
            <a:extLst xmlns:a="http://schemas.openxmlformats.org/drawingml/2006/main">
              <a:ext uri="{FF2B5EF4-FFF2-40B4-BE49-F238E27FC236}">
                <a16:creationId xmlns:a16="http://schemas.microsoft.com/office/drawing/2014/main" id="{06105FD5-E4E9-478C-8890-A64D03DA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rack-title-2">
            <a:extLst xmlns:a="http://schemas.openxmlformats.org/drawingml/2006/main">
              <a:ext uri="{FF2B5EF4-FFF2-40B4-BE49-F238E27FC236}">
                <a16:creationId xmlns:a16="http://schemas.microsoft.com/office/drawing/2014/main" id="{0C04A879-2C4C-451D-9BC5-94FC227D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6766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Discretizar</a:t>
            </a:r>
          </a:p>
        </p:txBody>
      </p:sp>
      <p:sp>
        <p:nvSpPr>
          <p:cNvPr id="17" name="track-body-2">
            <a:extLst xmlns:a="http://schemas.openxmlformats.org/drawingml/2006/main">
              <a:ext uri="{FF2B5EF4-FFF2-40B4-BE49-F238E27FC236}">
                <a16:creationId xmlns:a16="http://schemas.microsoft.com/office/drawing/2014/main" id="{C278AD63-54A5-460C-B68E-ABCB3869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67200"/>
            <a:ext cx="2571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7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5B6472"/>
                </a:solidFill>
                <a:latin typeface="Arial"/>
                <a:ea typeface="Arial"/>
                <a:cs typeface="Arial"/>
              </a:rPr>
              <a:t>4 células à frente →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17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5B6472"/>
                </a:solidFill>
                <a:latin typeface="Arial"/>
                <a:ea typeface="Arial"/>
                <a:cs typeface="Arial"/>
              </a:rPr>
              <a:t>índice de 0 a 3.455</a:t>
            </a:r>
          </a:p>
        </p:txBody>
      </p:sp>
      <p:sp>
        <p:nvSpPr>
          <p:cNvPr id="18" name="track-takeaway">
            <a:extLst xmlns:a="http://schemas.openxmlformats.org/drawingml/2006/main">
              <a:ext uri="{FF2B5EF4-FFF2-40B4-BE49-F238E27FC236}">
                <a16:creationId xmlns:a16="http://schemas.microsoft.com/office/drawing/2014/main" id="{95A1F9B2-9CF5-4CE7-98C5-D3938EB5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 algoritmo não recebe “blocos”: recebe um estado compacto com significado físico.</a:t>
            </a:r>
          </a:p>
        </p:txBody>
      </p:sp>
    </p:spTree>
    <p:extLst>
      <p:ext uri="{BB962C8B-B14F-4D97-AF65-F5344CB8AC3E}">
        <p14:creationId xmlns:p14="http://schemas.microsoft.com/office/powerpoint/2010/main" val="712842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ection-4">
            <a:extLst xmlns:a="http://schemas.openxmlformats.org/drawingml/2006/main">
              <a:ext uri="{FF2B5EF4-FFF2-40B4-BE49-F238E27FC236}">
                <a16:creationId xmlns:a16="http://schemas.microsoft.com/office/drawing/2014/main" id="{2BC757A0-F2E2-4B5C-815F-D84FC1B8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MODELAGEM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A3252BF4-0742-4B27-9F2E-9E5A4090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Estado, ações e recompensa definem o problema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6762AED1-2055-4EC2-B51B-AC330664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model-arrow-1">
            <a:extLst xmlns:a="http://schemas.openxmlformats.org/drawingml/2006/main">
              <a:ext uri="{FF2B5EF4-FFF2-40B4-BE49-F238E27FC236}">
                <a16:creationId xmlns:a16="http://schemas.microsoft.com/office/drawing/2014/main" id="{DFD83B9F-14EE-4E41-AD3E-28FDCC995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099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odel-arrowhead-1">
            <a:extLst xmlns:a="http://schemas.openxmlformats.org/drawingml/2006/main">
              <a:ext uri="{FF2B5EF4-FFF2-40B4-BE49-F238E27FC236}">
                <a16:creationId xmlns:a16="http://schemas.microsoft.com/office/drawing/2014/main" id="{9D184C38-9546-447E-93BA-E274A4CB8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05150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odel-arrow-2">
            <a:extLst xmlns:a="http://schemas.openxmlformats.org/drawingml/2006/main">
              <a:ext uri="{FF2B5EF4-FFF2-40B4-BE49-F238E27FC236}">
                <a16:creationId xmlns:a16="http://schemas.microsoft.com/office/drawing/2014/main" id="{78D768CC-EBAE-4D24-A4A2-9C4F46F8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209925"/>
            <a:ext cx="76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odel-arrowhead-2">
            <a:extLst xmlns:a="http://schemas.openxmlformats.org/drawingml/2006/main">
              <a:ext uri="{FF2B5EF4-FFF2-40B4-BE49-F238E27FC236}">
                <a16:creationId xmlns:a16="http://schemas.microsoft.com/office/drawing/2014/main" id="{7E27C113-CD8F-46A4-9136-7F9EE42D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05150"/>
            <a:ext cx="323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odel-panel-0">
            <a:extLst xmlns:a="http://schemas.openxmlformats.org/drawingml/2006/main">
              <a:ext uri="{FF2B5EF4-FFF2-40B4-BE49-F238E27FC236}">
                <a16:creationId xmlns:a16="http://schemas.microsoft.com/office/drawing/2014/main" id="{6FDE9637-9CB8-4A22-AD96-96C7B220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24050"/>
            <a:ext cx="32766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model-title-0">
            <a:extLst xmlns:a="http://schemas.openxmlformats.org/drawingml/2006/main">
              <a:ext uri="{FF2B5EF4-FFF2-40B4-BE49-F238E27FC236}">
                <a16:creationId xmlns:a16="http://schemas.microsoft.com/office/drawing/2014/main" id="{75C105FC-9324-4B47-B84F-C07EA057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274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Estado</a:t>
            </a:r>
          </a:p>
        </p:txBody>
      </p:sp>
      <p:sp>
        <p:nvSpPr>
          <p:cNvPr id="10" name="model-big-0">
            <a:extLst xmlns:a="http://schemas.openxmlformats.org/drawingml/2006/main">
              <a:ext uri="{FF2B5EF4-FFF2-40B4-BE49-F238E27FC236}">
                <a16:creationId xmlns:a16="http://schemas.microsoft.com/office/drawing/2014/main" id="{9252FBB0-AD37-422D-B64B-AB2F6EE5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7432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3.456</a:t>
            </a:r>
          </a:p>
        </p:txBody>
      </p:sp>
      <p:sp>
        <p:nvSpPr>
          <p:cNvPr id="11" name="model-unit-0">
            <a:extLst xmlns:a="http://schemas.openxmlformats.org/drawingml/2006/main">
              <a:ext uri="{FF2B5EF4-FFF2-40B4-BE49-F238E27FC236}">
                <a16:creationId xmlns:a16="http://schemas.microsoft.com/office/drawing/2014/main" id="{24898C69-6370-4201-862F-48BAFE7C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7575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B6472"/>
                </a:solidFill>
                <a:latin typeface="Arial"/>
                <a:ea typeface="Arial"/>
                <a:cs typeface="Arial"/>
              </a:rPr>
              <a:t>situações</a:t>
            </a:r>
          </a:p>
        </p:txBody>
      </p:sp>
      <p:sp>
        <p:nvSpPr>
          <p:cNvPr id="12" name="model-body-0">
            <a:extLst xmlns:a="http://schemas.openxmlformats.org/drawingml/2006/main">
              <a:ext uri="{FF2B5EF4-FFF2-40B4-BE49-F238E27FC236}">
                <a16:creationId xmlns:a16="http://schemas.microsoft.com/office/drawing/2014/main" id="{938CB198-FA08-4A4A-B81A-651DC57C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8600"/>
            <a:ext cx="2743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Piso nas 4 células seguintes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Altura do apoio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Fase do salto e velocidade</a:t>
            </a:r>
          </a:p>
        </p:txBody>
      </p:sp>
      <p:sp>
        <p:nvSpPr>
          <p:cNvPr id="13" name="model-panel-1">
            <a:extLst xmlns:a="http://schemas.openxmlformats.org/drawingml/2006/main">
              <a:ext uri="{FF2B5EF4-FFF2-40B4-BE49-F238E27FC236}">
                <a16:creationId xmlns:a16="http://schemas.microsoft.com/office/drawing/2014/main" id="{38003602-7267-49B4-B6C6-8B254DD0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24050"/>
            <a:ext cx="32766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4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odel-title-1">
            <a:extLst xmlns:a="http://schemas.openxmlformats.org/drawingml/2006/main">
              <a:ext uri="{FF2B5EF4-FFF2-40B4-BE49-F238E27FC236}">
                <a16:creationId xmlns:a16="http://schemas.microsoft.com/office/drawing/2014/main" id="{E59A1BEC-241E-4051-9D33-9924BF06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90750"/>
            <a:ext cx="274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Ações</a:t>
            </a:r>
          </a:p>
        </p:txBody>
      </p:sp>
      <p:sp>
        <p:nvSpPr>
          <p:cNvPr id="15" name="model-big-1">
            <a:extLst xmlns:a="http://schemas.openxmlformats.org/drawingml/2006/main">
              <a:ext uri="{FF2B5EF4-FFF2-40B4-BE49-F238E27FC236}">
                <a16:creationId xmlns:a16="http://schemas.microsoft.com/office/drawing/2014/main" id="{2FF40FBF-3611-423A-8456-DC10818E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27432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model-unit-1">
            <a:extLst xmlns:a="http://schemas.openxmlformats.org/drawingml/2006/main">
              <a:ext uri="{FF2B5EF4-FFF2-40B4-BE49-F238E27FC236}">
                <a16:creationId xmlns:a16="http://schemas.microsoft.com/office/drawing/2014/main" id="{065A3BDB-5FAC-449C-B3D4-AF5B556D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57575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B6472"/>
                </a:solidFill>
                <a:latin typeface="Arial"/>
                <a:ea typeface="Arial"/>
                <a:cs typeface="Arial"/>
              </a:rPr>
              <a:t>controles</a:t>
            </a:r>
          </a:p>
        </p:txBody>
      </p:sp>
      <p:sp>
        <p:nvSpPr>
          <p:cNvPr id="17" name="model-body-1">
            <a:extLst xmlns:a="http://schemas.openxmlformats.org/drawingml/2006/main">
              <a:ext uri="{FF2B5EF4-FFF2-40B4-BE49-F238E27FC236}">
                <a16:creationId xmlns:a16="http://schemas.microsoft.com/office/drawing/2014/main" id="{988BE572-67AD-4F37-B5FC-61E3756E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038600"/>
            <a:ext cx="2743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Andar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Correr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Correr + pular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Andar + pular</a:t>
            </a:r>
          </a:p>
        </p:txBody>
      </p:sp>
      <p:sp>
        <p:nvSpPr>
          <p:cNvPr id="18" name="model-panel-2">
            <a:extLst xmlns:a="http://schemas.openxmlformats.org/drawingml/2006/main">
              <a:ext uri="{FF2B5EF4-FFF2-40B4-BE49-F238E27FC236}">
                <a16:creationId xmlns:a16="http://schemas.microsoft.com/office/drawing/2014/main" id="{94205885-3975-4C24-9A1C-6790D471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24050"/>
            <a:ext cx="32766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model-title-2">
            <a:extLst xmlns:a="http://schemas.openxmlformats.org/drawingml/2006/main">
              <a:ext uri="{FF2B5EF4-FFF2-40B4-BE49-F238E27FC236}">
                <a16:creationId xmlns:a16="http://schemas.microsoft.com/office/drawing/2014/main" id="{1DCC1D85-F9CA-4499-A490-05F0C722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74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Recompensa</a:t>
            </a:r>
          </a:p>
        </p:txBody>
      </p:sp>
      <p:sp>
        <p:nvSpPr>
          <p:cNvPr id="20" name="model-big-2">
            <a:extLst xmlns:a="http://schemas.openxmlformats.org/drawingml/2006/main">
              <a:ext uri="{FF2B5EF4-FFF2-40B4-BE49-F238E27FC236}">
                <a16:creationId xmlns:a16="http://schemas.microsoft.com/office/drawing/2014/main" id="{3AC64F92-D132-4756-99DD-C4AF2323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24150"/>
            <a:ext cx="27432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+20</a:t>
            </a:r>
          </a:p>
        </p:txBody>
      </p:sp>
      <p:sp>
        <p:nvSpPr>
          <p:cNvPr id="21" name="model-unit-2">
            <a:extLst xmlns:a="http://schemas.openxmlformats.org/drawingml/2006/main">
              <a:ext uri="{FF2B5EF4-FFF2-40B4-BE49-F238E27FC236}">
                <a16:creationId xmlns:a16="http://schemas.microsoft.com/office/drawing/2014/main" id="{A0359FFF-63E5-43D1-B708-DE6BAD45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457575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5B6472"/>
                </a:solidFill>
                <a:latin typeface="Arial"/>
                <a:ea typeface="Arial"/>
                <a:cs typeface="Arial"/>
              </a:rPr>
              <a:t>ao chegar</a:t>
            </a:r>
          </a:p>
        </p:txBody>
      </p:sp>
      <p:sp>
        <p:nvSpPr>
          <p:cNvPr id="22" name="model-body-2">
            <a:extLst xmlns:a="http://schemas.openxmlformats.org/drawingml/2006/main">
              <a:ext uri="{FF2B5EF4-FFF2-40B4-BE49-F238E27FC236}">
                <a16:creationId xmlns:a16="http://schemas.microsoft.com/office/drawing/2014/main" id="{838E9814-4E78-49CF-92A9-48A60823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38600"/>
            <a:ext cx="27432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+1 × avanço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−0,02 por decisão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000000"/>
                </a:solidFill>
                <a:latin typeface="Arial"/>
                <a:ea typeface="Arial"/>
                <a:cs typeface="Arial"/>
              </a:rPr>
              <a:t>−10 por queda ou trava</a:t>
            </a:r>
          </a:p>
        </p:txBody>
      </p:sp>
    </p:spTree>
    <p:extLst>
      <p:ext uri="{BB962C8B-B14F-4D97-AF65-F5344CB8AC3E}">
        <p14:creationId xmlns:p14="http://schemas.microsoft.com/office/powerpoint/2010/main" val="16421210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-5">
            <a:extLst xmlns:a="http://schemas.openxmlformats.org/drawingml/2006/main">
              <a:ext uri="{FF2B5EF4-FFF2-40B4-BE49-F238E27FC236}">
                <a16:creationId xmlns:a16="http://schemas.microsoft.com/office/drawing/2014/main" id="{29040115-1614-4C51-88E4-81C4B338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ALGORITMO E PARÂMETROS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FF4668E8-1D2D-4FDE-95AA-729F3FCA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tabela Q melhora a ação a cada experiência</a:t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9D26327A-0ADD-4E1A-BCF3-A785FF83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bellman-panel">
            <a:extLst xmlns:a="http://schemas.openxmlformats.org/drawingml/2006/main">
              <a:ext uri="{FF2B5EF4-FFF2-40B4-BE49-F238E27FC236}">
                <a16:creationId xmlns:a16="http://schemas.microsoft.com/office/drawing/2014/main" id="{40FF6E5C-C267-4953-A600-4CF7C10C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539115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bellman-label">
            <a:extLst xmlns:a="http://schemas.openxmlformats.org/drawingml/2006/main">
              <a:ext uri="{FF2B5EF4-FFF2-40B4-BE49-F238E27FC236}">
                <a16:creationId xmlns:a16="http://schemas.microsoft.com/office/drawing/2014/main" id="{7028D4D9-B5BF-439D-8546-00F06BEC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ATUALIZAÇÃO DE BELLMAN</a:t>
            </a:r>
          </a:p>
        </p:txBody>
      </p:sp>
      <p:sp>
        <p:nvSpPr>
          <p:cNvPr id="6" name="bellman-equation">
            <a:extLst xmlns:a="http://schemas.openxmlformats.org/drawingml/2006/main">
              <a:ext uri="{FF2B5EF4-FFF2-40B4-BE49-F238E27FC236}">
                <a16:creationId xmlns:a16="http://schemas.microsoft.com/office/drawing/2014/main" id="{97660FF1-D82B-4F63-BCEA-63BA60C9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24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Q(s,a) ← Q(s,a) + α ·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4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[r + γ · max Q(s′,a′) − Q(s,a)]</a:t>
            </a:r>
          </a:p>
        </p:txBody>
      </p:sp>
      <p:sp>
        <p:nvSpPr>
          <p:cNvPr id="7" name="bellman-params">
            <a:extLst xmlns:a="http://schemas.openxmlformats.org/drawingml/2006/main">
              <a:ext uri="{FF2B5EF4-FFF2-40B4-BE49-F238E27FC236}">
                <a16:creationId xmlns:a16="http://schemas.microsoft.com/office/drawing/2014/main" id="{F8588D59-AF18-4417-90FA-D7378FDF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5B6472"/>
                </a:solidFill>
                <a:latin typeface="Arial"/>
                <a:ea typeface="Arial"/>
                <a:cs typeface="Arial"/>
              </a:rPr>
              <a:t>α = 0,20     γ = 0,97</a:t>
            </a:r>
          </a:p>
        </p:txBody>
      </p:sp>
      <p:sp>
        <p:nvSpPr>
          <p:cNvPr id="8" name="epsilon-title">
            <a:extLst xmlns:a="http://schemas.openxmlformats.org/drawingml/2006/main">
              <a:ext uri="{FF2B5EF4-FFF2-40B4-BE49-F238E27FC236}">
                <a16:creationId xmlns:a16="http://schemas.microsoft.com/office/drawing/2014/main" id="{5D1A16A4-49D1-4D96-9389-0FA29970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9240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Parâmetros usados</a:t>
            </a:r>
          </a:p>
        </p:txBody>
      </p:sp>
      <p:sp>
        <p:nvSpPr>
          <p:cNvPr id="9" name="epsilon-big">
            <a:extLst xmlns:a="http://schemas.openxmlformats.org/drawingml/2006/main">
              <a:ext uri="{FF2B5EF4-FFF2-40B4-BE49-F238E27FC236}">
                <a16:creationId xmlns:a16="http://schemas.microsoft.com/office/drawing/2014/main" id="{63AFDEAE-4E44-4E8A-959A-18C59A65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860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ε: 1,00 → 0,05</a:t>
            </a:r>
          </a:p>
        </p:txBody>
      </p:sp>
      <p:sp>
        <p:nvSpPr>
          <p:cNvPr id="10" name="epsilon-bullets">
            <a:extLst xmlns:a="http://schemas.openxmlformats.org/drawingml/2006/main">
              <a:ext uri="{FF2B5EF4-FFF2-40B4-BE49-F238E27FC236}">
                <a16:creationId xmlns:a16="http://schemas.microsoft.com/office/drawing/2014/main" id="{E5FF56E8-39F5-45D0-B278-FDB99695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00450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α = 0,20  ·  taxa de aprendizado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γ = 0,97  ·  desconto do futuro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ε ← max(0,05; ε × 0,9995) após cada episódio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5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ε = 0 durante a avaliação da política</a:t>
            </a:r>
          </a:p>
        </p:txBody>
      </p:sp>
    </p:spTree>
    <p:extLst>
      <p:ext uri="{BB962C8B-B14F-4D97-AF65-F5344CB8AC3E}">
        <p14:creationId xmlns:p14="http://schemas.microsoft.com/office/powerpoint/2010/main" val="8623641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section-6">
            <a:extLst xmlns:a="http://schemas.openxmlformats.org/drawingml/2006/main">
              <a:ext uri="{FF2B5EF4-FFF2-40B4-BE49-F238E27FC236}">
                <a16:creationId xmlns:a16="http://schemas.microsoft.com/office/drawing/2014/main" id="{0512A585-36DF-47B4-95CB-50CB0546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FLUXO DE APRENDIZAGEM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50D2BF9F-22DB-4E4E-A14C-8A3F0737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Cada episódio repete o ciclo do Q-Learning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59821C14-A75C-4BB6-B5A8-BC23C3D4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cycle-link-0">
            <a:extLst xmlns:a="http://schemas.openxmlformats.org/drawingml/2006/main">
              <a:ext uri="{FF2B5EF4-FFF2-40B4-BE49-F238E27FC236}">
                <a16:creationId xmlns:a16="http://schemas.microsoft.com/office/drawing/2014/main" id="{B26D2475-56C4-4E51-B61C-285F7ACB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352800"/>
            <a:ext cx="438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ycle-head-0">
            <a:extLst xmlns:a="http://schemas.openxmlformats.org/drawingml/2006/main">
              <a:ext uri="{FF2B5EF4-FFF2-40B4-BE49-F238E27FC236}">
                <a16:creationId xmlns:a16="http://schemas.microsoft.com/office/drawing/2014/main" id="{5B03FE71-EE1E-4BCA-914A-35C0DEDC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57550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ycle-link-1">
            <a:extLst xmlns:a="http://schemas.openxmlformats.org/drawingml/2006/main">
              <a:ext uri="{FF2B5EF4-FFF2-40B4-BE49-F238E27FC236}">
                <a16:creationId xmlns:a16="http://schemas.microsoft.com/office/drawing/2014/main" id="{2C597768-05C4-446A-9D27-7204843A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52800"/>
            <a:ext cx="438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ycle-head-1">
            <a:extLst xmlns:a="http://schemas.openxmlformats.org/drawingml/2006/main">
              <a:ext uri="{FF2B5EF4-FFF2-40B4-BE49-F238E27FC236}">
                <a16:creationId xmlns:a16="http://schemas.microsoft.com/office/drawing/2014/main" id="{2A334FB8-209B-4F36-BFFB-1339072D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57550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ycle-link-2">
            <a:extLst xmlns:a="http://schemas.openxmlformats.org/drawingml/2006/main">
              <a:ext uri="{FF2B5EF4-FFF2-40B4-BE49-F238E27FC236}">
                <a16:creationId xmlns:a16="http://schemas.microsoft.com/office/drawing/2014/main" id="{A87F7EB4-A3F6-4FA1-9823-689FAFC5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52800"/>
            <a:ext cx="438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ycle-head-2">
            <a:extLst xmlns:a="http://schemas.openxmlformats.org/drawingml/2006/main">
              <a:ext uri="{FF2B5EF4-FFF2-40B4-BE49-F238E27FC236}">
                <a16:creationId xmlns:a16="http://schemas.microsoft.com/office/drawing/2014/main" id="{7A5F46D5-D11F-40F4-8134-F9C6230D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57550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ycle-link-3">
            <a:extLst xmlns:a="http://schemas.openxmlformats.org/drawingml/2006/main">
              <a:ext uri="{FF2B5EF4-FFF2-40B4-BE49-F238E27FC236}">
                <a16:creationId xmlns:a16="http://schemas.microsoft.com/office/drawing/2014/main" id="{AEB0911A-E7AD-4EF9-BB10-42083662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52800"/>
            <a:ext cx="438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ycle-head-3">
            <a:extLst xmlns:a="http://schemas.openxmlformats.org/drawingml/2006/main">
              <a:ext uri="{FF2B5EF4-FFF2-40B4-BE49-F238E27FC236}">
                <a16:creationId xmlns:a16="http://schemas.microsoft.com/office/drawing/2014/main" id="{00D57CC6-6976-45EB-B145-49565783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57550"/>
            <a:ext cx="228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ycle-node-0">
            <a:extLst xmlns:a="http://schemas.openxmlformats.org/drawingml/2006/main">
              <a:ext uri="{FF2B5EF4-FFF2-40B4-BE49-F238E27FC236}">
                <a16:creationId xmlns:a16="http://schemas.microsoft.com/office/drawing/2014/main" id="{B09895E7-B7F6-4FD9-B08C-4EE5115F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18097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ycle-n-0">
            <a:extLst xmlns:a="http://schemas.openxmlformats.org/drawingml/2006/main">
              <a:ext uri="{FF2B5EF4-FFF2-40B4-BE49-F238E27FC236}">
                <a16:creationId xmlns:a16="http://schemas.microsoft.com/office/drawing/2014/main" id="{93F0B36E-E482-486A-90EE-9FCC16EC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cycle-title-0">
            <a:extLst xmlns:a="http://schemas.openxmlformats.org/drawingml/2006/main">
              <a:ext uri="{FF2B5EF4-FFF2-40B4-BE49-F238E27FC236}">
                <a16:creationId xmlns:a16="http://schemas.microsoft.com/office/drawing/2014/main" id="{3F9124B7-375C-44A7-BDD3-97CCE313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Observar s</a:t>
            </a:r>
          </a:p>
        </p:txBody>
      </p:sp>
      <p:sp>
        <p:nvSpPr>
          <p:cNvPr id="15" name="cycle-body-0">
            <a:extLst xmlns:a="http://schemas.openxmlformats.org/drawingml/2006/main">
              <a:ext uri="{FF2B5EF4-FFF2-40B4-BE49-F238E27FC236}">
                <a16:creationId xmlns:a16="http://schemas.microsoft.com/office/drawing/2014/main" id="{96C56A5C-EE35-45ED-BB1D-EC9B1F2F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B6472"/>
                </a:solidFill>
                <a:latin typeface="Arial"/>
                <a:ea typeface="Arial"/>
                <a:cs typeface="Arial"/>
              </a:rPr>
              <a:t>posição, apoio e velocidade</a:t>
            </a:r>
          </a:p>
        </p:txBody>
      </p:sp>
      <p:sp>
        <p:nvSpPr>
          <p:cNvPr id="16" name="cycle-node-1">
            <a:extLst xmlns:a="http://schemas.openxmlformats.org/drawingml/2006/main">
              <a:ext uri="{FF2B5EF4-FFF2-40B4-BE49-F238E27FC236}">
                <a16:creationId xmlns:a16="http://schemas.microsoft.com/office/drawing/2014/main" id="{C1C78385-A554-4BDB-87DA-23220BD3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76500"/>
            <a:ext cx="18097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ycle-n-1">
            <a:extLst xmlns:a="http://schemas.openxmlformats.org/drawingml/2006/main">
              <a:ext uri="{FF2B5EF4-FFF2-40B4-BE49-F238E27FC236}">
                <a16:creationId xmlns:a16="http://schemas.microsoft.com/office/drawing/2014/main" id="{E708BA5F-BF2F-4E9D-AB3E-EAAC0F7A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6700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cycle-title-1">
            <a:extLst xmlns:a="http://schemas.openxmlformats.org/drawingml/2006/main">
              <a:ext uri="{FF2B5EF4-FFF2-40B4-BE49-F238E27FC236}">
                <a16:creationId xmlns:a16="http://schemas.microsoft.com/office/drawing/2014/main" id="{35DECF94-5248-459D-9423-F95E3BC8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1623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Escolher a</a:t>
            </a:r>
          </a:p>
        </p:txBody>
      </p:sp>
      <p:sp>
        <p:nvSpPr>
          <p:cNvPr id="19" name="cycle-body-1">
            <a:extLst xmlns:a="http://schemas.openxmlformats.org/drawingml/2006/main">
              <a:ext uri="{FF2B5EF4-FFF2-40B4-BE49-F238E27FC236}">
                <a16:creationId xmlns:a16="http://schemas.microsoft.com/office/drawing/2014/main" id="{9F276F07-EF67-4084-A270-94D09CCF9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47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B6472"/>
                </a:solidFill>
                <a:latin typeface="Arial"/>
                <a:ea typeface="Arial"/>
                <a:cs typeface="Arial"/>
              </a:rPr>
              <a:t>política epsilon-greedy</a:t>
            </a:r>
          </a:p>
        </p:txBody>
      </p:sp>
      <p:sp>
        <p:nvSpPr>
          <p:cNvPr id="20" name="cycle-node-2">
            <a:extLst xmlns:a="http://schemas.openxmlformats.org/drawingml/2006/main">
              <a:ext uri="{FF2B5EF4-FFF2-40B4-BE49-F238E27FC236}">
                <a16:creationId xmlns:a16="http://schemas.microsoft.com/office/drawing/2014/main" id="{A4507E1C-BABD-48C4-A02C-27632EF8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8097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ycle-n-2">
            <a:extLst xmlns:a="http://schemas.openxmlformats.org/drawingml/2006/main">
              <a:ext uri="{FF2B5EF4-FFF2-40B4-BE49-F238E27FC236}">
                <a16:creationId xmlns:a16="http://schemas.microsoft.com/office/drawing/2014/main" id="{DD37AE79-213F-4C74-BB76-88B6C893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6700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cycle-title-2">
            <a:extLst xmlns:a="http://schemas.openxmlformats.org/drawingml/2006/main">
              <a:ext uri="{FF2B5EF4-FFF2-40B4-BE49-F238E27FC236}">
                <a16:creationId xmlns:a16="http://schemas.microsoft.com/office/drawing/2014/main" id="{66B97275-547A-4B76-A5CA-3718A9903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623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Executar</a:t>
            </a:r>
          </a:p>
        </p:txBody>
      </p:sp>
      <p:sp>
        <p:nvSpPr>
          <p:cNvPr id="23" name="cycle-body-2">
            <a:extLst xmlns:a="http://schemas.openxmlformats.org/drawingml/2006/main">
              <a:ext uri="{FF2B5EF4-FFF2-40B4-BE49-F238E27FC236}">
                <a16:creationId xmlns:a16="http://schemas.microsoft.com/office/drawing/2014/main" id="{B619A137-9803-4BB9-A36B-2857CFC1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147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B6472"/>
                </a:solidFill>
                <a:latin typeface="Arial"/>
                <a:ea typeface="Arial"/>
                <a:cs typeface="Arial"/>
              </a:rPr>
              <a:t>ação por 4 ticks</a:t>
            </a:r>
          </a:p>
        </p:txBody>
      </p:sp>
      <p:sp>
        <p:nvSpPr>
          <p:cNvPr id="24" name="cycle-node-3">
            <a:extLst xmlns:a="http://schemas.openxmlformats.org/drawingml/2006/main">
              <a:ext uri="{FF2B5EF4-FFF2-40B4-BE49-F238E27FC236}">
                <a16:creationId xmlns:a16="http://schemas.microsoft.com/office/drawing/2014/main" id="{1FBAF5CF-28C8-46F9-8D30-1CBC3E3D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76500"/>
            <a:ext cx="18097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cycle-n-3">
            <a:extLst xmlns:a="http://schemas.openxmlformats.org/drawingml/2006/main">
              <a:ext uri="{FF2B5EF4-FFF2-40B4-BE49-F238E27FC236}">
                <a16:creationId xmlns:a16="http://schemas.microsoft.com/office/drawing/2014/main" id="{EF7E57AE-E251-4E17-9C7D-22F7ADA8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6700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cycle-title-3">
            <a:extLst xmlns:a="http://schemas.openxmlformats.org/drawingml/2006/main">
              <a:ext uri="{FF2B5EF4-FFF2-40B4-BE49-F238E27FC236}">
                <a16:creationId xmlns:a16="http://schemas.microsoft.com/office/drawing/2014/main" id="{CF02CA7E-00F7-48B8-97FE-3C3EFBE20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623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Receber</a:t>
            </a:r>
          </a:p>
        </p:txBody>
      </p:sp>
      <p:sp>
        <p:nvSpPr>
          <p:cNvPr id="27" name="cycle-body-3">
            <a:extLst xmlns:a="http://schemas.openxmlformats.org/drawingml/2006/main">
              <a:ext uri="{FF2B5EF4-FFF2-40B4-BE49-F238E27FC236}">
                <a16:creationId xmlns:a16="http://schemas.microsoft.com/office/drawing/2014/main" id="{A6549B3A-09E1-47D3-AE10-C4CB7A0D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147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B6472"/>
                </a:solidFill>
                <a:latin typeface="Arial"/>
                <a:ea typeface="Arial"/>
                <a:cs typeface="Arial"/>
              </a:rPr>
              <a:t>recompensa r e estado s′</a:t>
            </a:r>
          </a:p>
        </p:txBody>
      </p:sp>
      <p:sp>
        <p:nvSpPr>
          <p:cNvPr id="28" name="cycle-node-4">
            <a:extLst xmlns:a="http://schemas.openxmlformats.org/drawingml/2006/main">
              <a:ext uri="{FF2B5EF4-FFF2-40B4-BE49-F238E27FC236}">
                <a16:creationId xmlns:a16="http://schemas.microsoft.com/office/drawing/2014/main" id="{942E7120-319A-4E99-B354-C5E4C1FB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76500"/>
            <a:ext cx="18097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4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ycle-n-4">
            <a:extLst xmlns:a="http://schemas.openxmlformats.org/drawingml/2006/main">
              <a:ext uri="{FF2B5EF4-FFF2-40B4-BE49-F238E27FC236}">
                <a16:creationId xmlns:a16="http://schemas.microsoft.com/office/drawing/2014/main" id="{FF5710F2-F992-4F2A-AFEC-05B60D1D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6700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0" name="cycle-title-4">
            <a:extLst xmlns:a="http://schemas.openxmlformats.org/drawingml/2006/main">
              <a:ext uri="{FF2B5EF4-FFF2-40B4-BE49-F238E27FC236}">
                <a16:creationId xmlns:a16="http://schemas.microsoft.com/office/drawing/2014/main" id="{EBB60C99-BF73-4B6D-AAC8-252A645E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623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Atualizar Q</a:t>
            </a:r>
          </a:p>
        </p:txBody>
      </p:sp>
      <p:sp>
        <p:nvSpPr>
          <p:cNvPr id="31" name="cycle-body-4">
            <a:extLst xmlns:a="http://schemas.openxmlformats.org/drawingml/2006/main">
              <a:ext uri="{FF2B5EF4-FFF2-40B4-BE49-F238E27FC236}">
                <a16:creationId xmlns:a16="http://schemas.microsoft.com/office/drawing/2014/main" id="{89F8BDB9-C738-4D8A-9719-2F2E6640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714750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13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5B6472"/>
                </a:solidFill>
                <a:latin typeface="Arial"/>
                <a:ea typeface="Arial"/>
                <a:cs typeface="Arial"/>
              </a:rPr>
              <a:t>equação de Bellman</a:t>
            </a:r>
          </a:p>
        </p:txBody>
      </p:sp>
      <p:sp>
        <p:nvSpPr>
          <p:cNvPr id="32" name="cycle-footer">
            <a:extLst xmlns:a="http://schemas.openxmlformats.org/drawingml/2006/main">
              <a:ext uri="{FF2B5EF4-FFF2-40B4-BE49-F238E27FC236}">
                <a16:creationId xmlns:a16="http://schemas.microsoft.com/office/drawing/2014/main" id="{DD90CCB0-16E4-4A4E-BC83-05F70153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38750"/>
            <a:ext cx="942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Meta, queda, travamento ou 80 decisões encerram o episódio; então ε diminui.</a:t>
            </a:r>
          </a:p>
        </p:txBody>
      </p:sp>
    </p:spTree>
    <p:extLst>
      <p:ext uri="{BB962C8B-B14F-4D97-AF65-F5344CB8AC3E}">
        <p14:creationId xmlns:p14="http://schemas.microsoft.com/office/powerpoint/2010/main" val="821759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7">
            <a:extLst xmlns:a="http://schemas.openxmlformats.org/drawingml/2006/main">
              <a:ext uri="{FF2B5EF4-FFF2-40B4-BE49-F238E27FC236}">
                <a16:creationId xmlns:a16="http://schemas.microsoft.com/office/drawing/2014/main" id="{85373324-B0F8-417D-A2D5-43D19F96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IMPLEMENTAÇÃO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144DDD34-1748-413E-B4BE-940441B8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implementação separa algoritmo e ambiente</a:t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27C797B2-008C-4628-B516-F58169C4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impl-title">
            <a:extLst xmlns:a="http://schemas.openxmlformats.org/drawingml/2006/main">
              <a:ext uri="{FF2B5EF4-FFF2-40B4-BE49-F238E27FC236}">
                <a16:creationId xmlns:a16="http://schemas.microsoft.com/office/drawing/2014/main" id="{DB13A435-2E66-4B3E-8CA5-5966795C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Núcleo do aprendizado</a:t>
            </a:r>
          </a:p>
        </p:txBody>
      </p:sp>
      <p:sp>
        <p:nvSpPr>
          <p:cNvPr id="5" name="code-panel">
            <a:extLst xmlns:a="http://schemas.openxmlformats.org/drawingml/2006/main">
              <a:ext uri="{FF2B5EF4-FFF2-40B4-BE49-F238E27FC236}">
                <a16:creationId xmlns:a16="http://schemas.microsoft.com/office/drawing/2014/main" id="{74D0BE75-1817-4888-B8E5-320F65F9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53340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de-text">
            <a:extLst xmlns:a="http://schemas.openxmlformats.org/drawingml/2006/main">
              <a:ext uri="{FF2B5EF4-FFF2-40B4-BE49-F238E27FC236}">
                <a16:creationId xmlns:a16="http://schemas.microsoft.com/office/drawing/2014/main" id="{E7E1A030-231E-4EF5-A63D-BE5E7147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65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alvo = recompensa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65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not terminou: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65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alvo += gama * melhor_futuro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65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erro = alvo - valor_atual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65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Q[estado][acao] += alfa * erro</a:t>
            </a:r>
          </a:p>
        </p:txBody>
      </p:sp>
      <p:sp>
        <p:nvSpPr>
          <p:cNvPr id="7" name="layers-title">
            <a:extLst xmlns:a="http://schemas.openxmlformats.org/drawingml/2006/main">
              <a:ext uri="{FF2B5EF4-FFF2-40B4-BE49-F238E27FC236}">
                <a16:creationId xmlns:a16="http://schemas.microsoft.com/office/drawing/2014/main" id="{93CDCCFF-93C4-40DD-97CA-42DA34BC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335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Módulos ligados aos conceitos</a:t>
            </a:r>
          </a:p>
        </p:txBody>
      </p:sp>
      <p:sp>
        <p:nvSpPr>
          <p:cNvPr id="8" name="layers-bullets">
            <a:extLst xmlns:a="http://schemas.openxmlformats.org/drawingml/2006/main">
              <a:ext uri="{FF2B5EF4-FFF2-40B4-BE49-F238E27FC236}">
                <a16:creationId xmlns:a16="http://schemas.microsoft.com/office/drawing/2014/main" id="{D2F7A504-9F48-4C28-AD0F-63DE904D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19350"/>
            <a:ext cx="47625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q_learning.py: política epsilon-greedy e Bellman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estado.py: estado contínuo → índice discreto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recompensa.py: objetivo e penalidades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treinar.py: interação (s, a, r, s′) por episódio</a:t>
            </a:r>
          </a:p>
        </p:txBody>
      </p:sp>
    </p:spTree>
    <p:extLst>
      <p:ext uri="{BB962C8B-B14F-4D97-AF65-F5344CB8AC3E}">
        <p14:creationId xmlns:p14="http://schemas.microsoft.com/office/powerpoint/2010/main" val="15354062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-8">
            <a:extLst xmlns:a="http://schemas.openxmlformats.org/drawingml/2006/main">
              <a:ext uri="{FF2B5EF4-FFF2-40B4-BE49-F238E27FC236}">
                <a16:creationId xmlns:a16="http://schemas.microsoft.com/office/drawing/2014/main" id="{538BF9DD-B442-4FD1-BE1E-A348A2D1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MODELAGEM DO OBJETIVO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385E8CCD-6DC3-455A-8F64-DD50C826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Recompensa define o comportamento desejado</a:t>
            </a:r>
          </a:p>
        </p:txBody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62AEC576-2C64-4BBC-A43D-8ECF3688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parallel-equation">
            <a:extLst xmlns:a="http://schemas.openxmlformats.org/drawingml/2006/main">
              <a:ext uri="{FF2B5EF4-FFF2-40B4-BE49-F238E27FC236}">
                <a16:creationId xmlns:a16="http://schemas.microsoft.com/office/drawing/2014/main" id="{92D15054-327B-4BFE-9920-91DD7C3F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71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 = Δprogresso − 0,02</a:t>
            </a:r>
          </a:p>
        </p:txBody>
      </p:sp>
      <p:sp>
        <p:nvSpPr>
          <p:cNvPr id="5" name="parallel-example">
            <a:extLst xmlns:a="http://schemas.openxmlformats.org/drawingml/2006/main">
              <a:ext uri="{FF2B5EF4-FFF2-40B4-BE49-F238E27FC236}">
                <a16:creationId xmlns:a16="http://schemas.microsoft.com/office/drawing/2014/main" id="{E33CB9F3-BC4B-4D4F-ACD3-1E02986C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+20 meta   ·   −10 queda/trava</a:t>
            </a:r>
          </a:p>
        </p:txBody>
      </p:sp>
      <p:sp>
        <p:nvSpPr>
          <p:cNvPr id="6" name="parallel-divider">
            <a:extLst xmlns:a="http://schemas.openxmlformats.org/drawingml/2006/main">
              <a:ext uri="{FF2B5EF4-FFF2-40B4-BE49-F238E27FC236}">
                <a16:creationId xmlns:a16="http://schemas.microsoft.com/office/drawing/2014/main" id="{5D97E797-696F-47A6-9209-1639E198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954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red-title">
            <a:extLst xmlns:a="http://schemas.openxmlformats.org/drawingml/2006/main">
              <a:ext uri="{FF2B5EF4-FFF2-40B4-BE49-F238E27FC236}">
                <a16:creationId xmlns:a16="http://schemas.microsoft.com/office/drawing/2014/main" id="{D6C5EDC4-D0A3-4B5E-901A-9F464A92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907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 que o sinal ensina</a:t>
            </a:r>
          </a:p>
        </p:txBody>
      </p:sp>
      <p:sp>
        <p:nvSpPr>
          <p:cNvPr id="8" name="parallel-bullets">
            <a:extLst xmlns:a="http://schemas.openxmlformats.org/drawingml/2006/main">
              <a:ext uri="{FF2B5EF4-FFF2-40B4-BE49-F238E27FC236}">
                <a16:creationId xmlns:a16="http://schemas.microsoft.com/office/drawing/2014/main" id="{C5329563-126A-4642-99B0-49C28AFE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28900"/>
            <a:ext cx="4629150" cy="260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avançar e pousar: reforço positivo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demorar: custo em cada decisão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ficar parado: penalidade extra de −0,05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queda, travamento e meta: sinais terminais</a:t>
            </a:r>
          </a:p>
        </p:txBody>
      </p:sp>
      <p:sp>
        <p:nvSpPr>
          <p:cNvPr id="9" name="parallel-callout">
            <a:extLst xmlns:a="http://schemas.openxmlformats.org/drawingml/2006/main">
              <a:ext uri="{FF2B5EF4-FFF2-40B4-BE49-F238E27FC236}">
                <a16:creationId xmlns:a16="http://schemas.microsoft.com/office/drawing/2014/main" id="{B0C3A3B2-3081-4EBF-9ED0-49C8C9EC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51816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4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arallel-callout-text">
            <a:extLst xmlns:a="http://schemas.openxmlformats.org/drawingml/2006/main">
              <a:ext uri="{FF2B5EF4-FFF2-40B4-BE49-F238E27FC236}">
                <a16:creationId xmlns:a16="http://schemas.microsoft.com/office/drawing/2014/main" id="{914DCAAC-42A2-403D-9D74-843CA93A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457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450"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Progresso líquido impede acumular recompensa oscilando no mesmo lugar.</a:t>
            </a:r>
          </a:p>
        </p:txBody>
      </p:sp>
    </p:spTree>
    <p:extLst>
      <p:ext uri="{BB962C8B-B14F-4D97-AF65-F5344CB8AC3E}">
        <p14:creationId xmlns:p14="http://schemas.microsoft.com/office/powerpoint/2010/main" val="14479214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9">
            <a:extLst xmlns:a="http://schemas.openxmlformats.org/drawingml/2006/main">
              <a:ext uri="{FF2B5EF4-FFF2-40B4-BE49-F238E27FC236}">
                <a16:creationId xmlns:a16="http://schemas.microsoft.com/office/drawing/2014/main" id="{06974560-03E4-4706-A049-52E7F873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RESULTADOS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942926A2-DFCA-48DB-B557-EFBE46CE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 treino salvo mostra evolução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6B2FA7A9-E55A-4437-BCF0-E464173E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results-qualifier">
            <a:extLst xmlns:a="http://schemas.openxmlformats.org/drawingml/2006/main">
              <a:ext uri="{FF2B5EF4-FFF2-40B4-BE49-F238E27FC236}">
                <a16:creationId xmlns:a16="http://schemas.microsoft.com/office/drawing/2014/main" id="{C6E59CC8-A2E1-4E0A-89A1-EDE0AAAD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5B6472"/>
                </a:solidFill>
                <a:latin typeface="Arial"/>
                <a:ea typeface="Arial"/>
                <a:cs typeface="Arial"/>
              </a:rPr>
              <a:t>Execução no frente_1: 70 bots × 50 rodadas = 3.500 episódios, todos registrados com ε = 0,05.</a:t>
            </a:r>
          </a:p>
        </p:txBody>
      </p:sp>
      <p:sp>
        <p:nvSpPr>
          <p:cNvPr id="5" name="metric-panel-1">
            <a:extLst xmlns:a="http://schemas.openxmlformats.org/drawingml/2006/main">
              <a:ext uri="{FF2B5EF4-FFF2-40B4-BE49-F238E27FC236}">
                <a16:creationId xmlns:a16="http://schemas.microsoft.com/office/drawing/2014/main" id="{D25317EA-662B-44F9-9147-6813BA35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33718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etric-stat-1">
            <a:extLst xmlns:a="http://schemas.openxmlformats.org/drawingml/2006/main">
              <a:ext uri="{FF2B5EF4-FFF2-40B4-BE49-F238E27FC236}">
                <a16:creationId xmlns:a16="http://schemas.microsoft.com/office/drawing/2014/main" id="{051C443B-982B-47D8-A00F-36F93F6C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2838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3.500</a:t>
            </a:r>
          </a:p>
        </p:txBody>
      </p:sp>
      <p:sp>
        <p:nvSpPr>
          <p:cNvPr id="7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E84BB616-A04C-4DBE-8A12-B1FD5EB9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episódios registrados</a:t>
            </a:r>
          </a:p>
        </p:txBody>
      </p:sp>
      <p:sp>
        <p:nvSpPr>
          <p:cNvPr id="8" name="metric-desc-1">
            <a:extLst xmlns:a="http://schemas.openxmlformats.org/drawingml/2006/main">
              <a:ext uri="{FF2B5EF4-FFF2-40B4-BE49-F238E27FC236}">
                <a16:creationId xmlns:a16="http://schemas.microsoft.com/office/drawing/2014/main" id="{95C408D4-3513-4572-8DCE-0A742068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29175"/>
            <a:ext cx="2838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4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B6472"/>
                </a:solidFill>
                <a:latin typeface="Arial"/>
                <a:ea typeface="Arial"/>
                <a:cs typeface="Arial"/>
              </a:rPr>
              <a:t>O arquivo contém somente a execução mais recente.</a:t>
            </a:r>
          </a:p>
        </p:txBody>
      </p:sp>
      <p:sp>
        <p:nvSpPr>
          <p:cNvPr id="9" name="metric-panel-2">
            <a:extLst xmlns:a="http://schemas.openxmlformats.org/drawingml/2006/main">
              <a:ext uri="{FF2B5EF4-FFF2-40B4-BE49-F238E27FC236}">
                <a16:creationId xmlns:a16="http://schemas.microsoft.com/office/drawing/2014/main" id="{B3EE3DC2-1815-4D87-83E4-483019DD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895600"/>
            <a:ext cx="33718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etric-stat-2">
            <a:extLst xmlns:a="http://schemas.openxmlformats.org/drawingml/2006/main">
              <a:ext uri="{FF2B5EF4-FFF2-40B4-BE49-F238E27FC236}">
                <a16:creationId xmlns:a16="http://schemas.microsoft.com/office/drawing/2014/main" id="{D0564867-975A-450A-9C8A-4C8722E2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57550"/>
            <a:ext cx="2838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7,20%</a:t>
            </a:r>
          </a:p>
        </p:txBody>
      </p:sp>
      <p:sp>
        <p:nvSpPr>
          <p:cNvPr id="11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FA37A3F7-6DF2-4847-AFAA-F4DD31FE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27672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chegadas no treino</a:t>
            </a:r>
          </a:p>
        </p:txBody>
      </p:sp>
      <p:sp>
        <p:nvSpPr>
          <p:cNvPr id="12" name="metric-desc-2">
            <a:extLst xmlns:a="http://schemas.openxmlformats.org/drawingml/2006/main">
              <a:ext uri="{FF2B5EF4-FFF2-40B4-BE49-F238E27FC236}">
                <a16:creationId xmlns:a16="http://schemas.microsoft.com/office/drawing/2014/main" id="{2CECD97D-2C1B-4FFD-B2A8-51FDC5A1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9175"/>
            <a:ext cx="2838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4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B6472"/>
                </a:solidFill>
                <a:latin typeface="Arial"/>
                <a:ea typeface="Arial"/>
                <a:cs typeface="Arial"/>
              </a:rPr>
              <a:t>252 episódios terminaram na meta, ainda sob exploração.</a:t>
            </a:r>
          </a:p>
        </p:txBody>
      </p:sp>
      <p:sp>
        <p:nvSpPr>
          <p:cNvPr id="13" name="metric-panel-3">
            <a:extLst xmlns:a="http://schemas.openxmlformats.org/drawingml/2006/main">
              <a:ext uri="{FF2B5EF4-FFF2-40B4-BE49-F238E27FC236}">
                <a16:creationId xmlns:a16="http://schemas.microsoft.com/office/drawing/2014/main" id="{A1191C51-00FA-4D45-8BE2-76708EFF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95600"/>
            <a:ext cx="33718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etric-stat-3">
            <a:extLst xmlns:a="http://schemas.openxmlformats.org/drawingml/2006/main">
              <a:ext uri="{FF2B5EF4-FFF2-40B4-BE49-F238E27FC236}">
                <a16:creationId xmlns:a16="http://schemas.microsoft.com/office/drawing/2014/main" id="{35353B68-0C5D-4424-9D89-619A0CBB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57550"/>
            <a:ext cx="28384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10,4%</a:t>
            </a:r>
          </a:p>
        </p:txBody>
      </p:sp>
      <p:sp>
        <p:nvSpPr>
          <p:cNvPr id="15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875DC942-3E9F-466A-AD06-468697C3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7672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nos últimos 1.000</a:t>
            </a:r>
          </a:p>
        </p:txBody>
      </p:sp>
      <p:sp>
        <p:nvSpPr>
          <p:cNvPr id="16" name="metric-desc-3">
            <a:extLst xmlns:a="http://schemas.openxmlformats.org/drawingml/2006/main">
              <a:ext uri="{FF2B5EF4-FFF2-40B4-BE49-F238E27FC236}">
                <a16:creationId xmlns:a16="http://schemas.microsoft.com/office/drawing/2014/main" id="{176981D5-7007-4C60-B0D5-D0199BD3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829175"/>
            <a:ext cx="2838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42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5B6472"/>
                </a:solidFill>
                <a:latin typeface="Arial"/>
                <a:ea typeface="Arial"/>
                <a:cs typeface="Arial"/>
              </a:rPr>
              <a:t>Nos primeiros 1.000 registros, a taxa era 6,00%.</a:t>
            </a:r>
          </a:p>
        </p:txBody>
      </p:sp>
    </p:spTree>
    <p:extLst>
      <p:ext uri="{BB962C8B-B14F-4D97-AF65-F5344CB8AC3E}">
        <p14:creationId xmlns:p14="http://schemas.microsoft.com/office/powerpoint/2010/main" val="11458144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10">
            <a:extLst xmlns:a="http://schemas.openxmlformats.org/drawingml/2006/main">
              <a:ext uri="{FF2B5EF4-FFF2-40B4-BE49-F238E27FC236}">
                <a16:creationId xmlns:a16="http://schemas.microsoft.com/office/drawing/2014/main" id="{15A4CC19-9C55-4576-A65D-C166D7FE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AVALIAÇÃO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C751087-215E-48E4-99DF-B4FCE227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  <a:buNone/>
              <a:defRPr sz="34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política chegou em 8 de 110 tentativas</a:t>
            </a:r>
          </a:p>
        </p:txBody>
      </p:sp>
      <p:sp>
        <p:nvSpPr>
          <p:cNvPr id="3" name="page-10">
            <a:extLst xmlns:a="http://schemas.openxmlformats.org/drawingml/2006/main">
              <a:ext uri="{FF2B5EF4-FFF2-40B4-BE49-F238E27FC236}">
                <a16:creationId xmlns:a16="http://schemas.microsoft.com/office/drawing/2014/main" id="{A444C6F0-C34F-4AE5-AA80-2B03012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19850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5B647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limits-left-title">
            <a:extLst xmlns:a="http://schemas.openxmlformats.org/drawingml/2006/main">
              <a:ext uri="{FF2B5EF4-FFF2-40B4-BE49-F238E27FC236}">
                <a16:creationId xmlns:a16="http://schemas.microsoft.com/office/drawing/2014/main" id="{A77438C0-75B3-4BAC-A41D-18FC7E9C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Condições da avaliação</a:t>
            </a:r>
          </a:p>
        </p:txBody>
      </p:sp>
      <p:sp>
        <p:nvSpPr>
          <p:cNvPr id="5" name="limits-left">
            <a:extLst xmlns:a="http://schemas.openxmlformats.org/drawingml/2006/main">
              <a:ext uri="{FF2B5EF4-FFF2-40B4-BE49-F238E27FC236}">
                <a16:creationId xmlns:a16="http://schemas.microsoft.com/office/drawing/2014/main" id="{FFD340BD-BDB7-4986-84A8-40437247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0"/>
            <a:ext cx="4953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3 execuções: 10 + 50 + 50 tentativas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ε = 0 e tabela Q sem atualizações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mesmo modelo salvo nas três execuções</a:t>
            </a:r>
          </a:p>
        </p:txBody>
      </p:sp>
      <p:sp>
        <p:nvSpPr>
          <p:cNvPr id="6" name="limits-right-title">
            <a:extLst xmlns:a="http://schemas.openxmlformats.org/drawingml/2006/main">
              <a:ext uri="{FF2B5EF4-FFF2-40B4-BE49-F238E27FC236}">
                <a16:creationId xmlns:a16="http://schemas.microsoft.com/office/drawing/2014/main" id="{E3121BE2-33AB-41A4-B635-5E083427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Resultados consolidados</a:t>
            </a:r>
          </a:p>
        </p:txBody>
      </p:sp>
      <p:sp>
        <p:nvSpPr>
          <p:cNvPr id="7" name="limits-right">
            <a:extLst xmlns:a="http://schemas.openxmlformats.org/drawingml/2006/main">
              <a:ext uri="{FF2B5EF4-FFF2-40B4-BE49-F238E27FC236}">
                <a16:creationId xmlns:a16="http://schemas.microsoft.com/office/drawing/2014/main" id="{74A31A80-CCC4-49BB-8E4A-0365F46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76500"/>
            <a:ext cx="4953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8/110 chegadas = 7,27%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retorno médio: 6,03 · passos médios: 17,09</a:t>
            </a:r>
          </a:p>
          <a:p xmlns:a="http://schemas.openxmlformats.org/drawingml/2006/main">
            <a:pPr marL="24" indent="-14">
              <a:spcAft>
                <a:spcPts val="900"/>
              </a:spcAft>
              <a:buChar char="•"/>
              <a:defRPr sz="165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t>progresso válido médio: 29,32%</a:t>
            </a:r>
          </a:p>
        </p:txBody>
      </p:sp>
      <p:sp>
        <p:nvSpPr>
          <p:cNvPr id="8" name="limits-bottom">
            <a:extLst xmlns:a="http://schemas.openxmlformats.org/drawingml/2006/main">
              <a:ext uri="{FF2B5EF4-FFF2-40B4-BE49-F238E27FC236}">
                <a16:creationId xmlns:a16="http://schemas.microsoft.com/office/drawing/2014/main" id="{B6D7B5EC-6CAB-47BD-8BEF-C360C05F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Por execução: 40,0% · 4,0% · 4,0% — há alta variação entre as amostras.</a:t>
            </a:r>
          </a:p>
        </p:txBody>
      </p:sp>
    </p:spTree>
    <p:extLst>
      <p:ext uri="{BB962C8B-B14F-4D97-AF65-F5344CB8AC3E}">
        <p14:creationId xmlns:p14="http://schemas.microsoft.com/office/powerpoint/2010/main" val="15465972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7AEEFFF9-18D5-4E7E-96B0-EED3103A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CONCLUSÃO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3591C0AB-F39A-4E88-A040-F29E8CA4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66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3000"/>
              </a:lnSpc>
              <a:buNone/>
              <a:defRPr sz="41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política foi aprendida,</a:t>
            </a:r>
          </a:p>
          <a:p xmlns:a="http://schemas.openxmlformats.org/drawingml/2006/main">
            <a:pPr>
              <a:lnSpc>
                <a:spcPct val="93000"/>
              </a:lnSpc>
              <a:buNone/>
              <a:defRPr sz="41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mas a avaliação mostra desempenho</a:t>
            </a:r>
          </a:p>
          <a:p xmlns:a="http://schemas.openxmlformats.org/drawingml/2006/main">
            <a:pPr>
              <a:lnSpc>
                <a:spcPct val="93000"/>
              </a:lnSpc>
              <a:buNone/>
              <a:defRPr sz="41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ainda instável e limitado.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6FE5C5BE-83C6-446F-92B6-842B66D9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57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label-0">
            <a:extLst xmlns:a="http://schemas.openxmlformats.org/drawingml/2006/main">
              <a:ext uri="{FF2B5EF4-FFF2-40B4-BE49-F238E27FC236}">
                <a16:creationId xmlns:a16="http://schemas.microsoft.com/office/drawing/2014/main" id="{6E8CD8DF-4372-4080-83ED-4EDA40EF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148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Representação</a:t>
            </a:r>
          </a:p>
        </p:txBody>
      </p:sp>
      <p:sp>
        <p:nvSpPr>
          <p:cNvPr id="5" name="close-body-0">
            <a:extLst xmlns:a="http://schemas.openxmlformats.org/drawingml/2006/main">
              <a:ext uri="{FF2B5EF4-FFF2-40B4-BE49-F238E27FC236}">
                <a16:creationId xmlns:a16="http://schemas.microsoft.com/office/drawing/2014/main" id="{6E70F7F6-D478-4C91-AAED-C6A43826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B6472"/>
                </a:solidFill>
                <a:latin typeface="Arial"/>
                <a:ea typeface="Arial"/>
                <a:cs typeface="Arial"/>
              </a:rPr>
              <a:t>O mapa 3D é normalizado e codificado em 3.456 estados.</a:t>
            </a:r>
          </a:p>
        </p:txBody>
      </p:sp>
      <p:sp>
        <p:nvSpPr>
          <p:cNvPr id="6" name="close-label-1">
            <a:extLst xmlns:a="http://schemas.openxmlformats.org/drawingml/2006/main">
              <a:ext uri="{FF2B5EF4-FFF2-40B4-BE49-F238E27FC236}">
                <a16:creationId xmlns:a16="http://schemas.microsoft.com/office/drawing/2014/main" id="{32EEEC9E-AFCD-4CD1-8025-880AA9B5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5148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Aprendizado</a:t>
            </a:r>
          </a:p>
        </p:txBody>
      </p:sp>
      <p:sp>
        <p:nvSpPr>
          <p:cNvPr id="7" name="close-body-1">
            <a:extLst xmlns:a="http://schemas.openxmlformats.org/drawingml/2006/main">
              <a:ext uri="{FF2B5EF4-FFF2-40B4-BE49-F238E27FC236}">
                <a16:creationId xmlns:a16="http://schemas.microsoft.com/office/drawing/2014/main" id="{81417340-BCFA-4518-9FA7-DC06BA80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9911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B6472"/>
                </a:solidFill>
                <a:latin typeface="Arial"/>
                <a:ea typeface="Arial"/>
                <a:cs typeface="Arial"/>
              </a:rPr>
              <a:t>Bellman, ε-greedy e recompensa transformam experiência em política.</a:t>
            </a:r>
          </a:p>
        </p:txBody>
      </p:sp>
      <p:sp>
        <p:nvSpPr>
          <p:cNvPr id="8" name="close-label-2">
            <a:extLst xmlns:a="http://schemas.openxmlformats.org/drawingml/2006/main">
              <a:ext uri="{FF2B5EF4-FFF2-40B4-BE49-F238E27FC236}">
                <a16:creationId xmlns:a16="http://schemas.microsoft.com/office/drawing/2014/main" id="{07D0E4E4-4A81-4C72-8F1A-0007D80D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148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Avaliação</a:t>
            </a:r>
          </a:p>
        </p:txBody>
      </p:sp>
      <p:sp>
        <p:nvSpPr>
          <p:cNvPr id="9" name="close-body-2">
            <a:extLst xmlns:a="http://schemas.openxmlformats.org/drawingml/2006/main">
              <a:ext uri="{FF2B5EF4-FFF2-40B4-BE49-F238E27FC236}">
                <a16:creationId xmlns:a16="http://schemas.microsoft.com/office/drawing/2014/main" id="{0FF1DF43-6FDC-4AA7-BB56-D472D366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911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575">
                <a:solidFill>
                  <a:srgbClr val="5B6472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B6472"/>
                </a:solidFill>
                <a:latin typeface="Arial"/>
                <a:ea typeface="Arial"/>
                <a:cs typeface="Arial"/>
              </a:rPr>
              <a:t>Com ε = 0, foram 8 chegadas em 110 tentativas: 7,27%.</a:t>
            </a:r>
          </a:p>
        </p:txBody>
      </p:sp>
    </p:spTree>
    <p:extLst>
      <p:ext uri="{BB962C8B-B14F-4D97-AF65-F5344CB8AC3E}">
        <p14:creationId xmlns:p14="http://schemas.microsoft.com/office/powerpoint/2010/main" val="6161537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2026-08-17T08:43:31.5700000Z</dcterms:created>
  <dcterms:modified xsi:type="dcterms:W3CDTF">2026-08-17T08:43:31.5700000Z</dcterms:modified>
</coreProperties>
</file>